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</p:sldMasterIdLst>
  <p:notesMasterIdLst>
    <p:notesMasterId r:id="rId40"/>
  </p:notesMasterIdLst>
  <p:sldIdLst>
    <p:sldId id="311" r:id="rId2"/>
    <p:sldId id="257" r:id="rId3"/>
    <p:sldId id="313" r:id="rId4"/>
    <p:sldId id="315" r:id="rId5"/>
    <p:sldId id="320" r:id="rId6"/>
    <p:sldId id="317" r:id="rId7"/>
    <p:sldId id="360" r:id="rId8"/>
    <p:sldId id="318" r:id="rId9"/>
    <p:sldId id="321" r:id="rId10"/>
    <p:sldId id="322" r:id="rId11"/>
    <p:sldId id="324" r:id="rId12"/>
    <p:sldId id="323" r:id="rId13"/>
    <p:sldId id="327" r:id="rId14"/>
    <p:sldId id="326" r:id="rId15"/>
    <p:sldId id="362" r:id="rId16"/>
    <p:sldId id="334" r:id="rId17"/>
    <p:sldId id="335" r:id="rId18"/>
    <p:sldId id="363" r:id="rId19"/>
    <p:sldId id="337" r:id="rId20"/>
    <p:sldId id="344" r:id="rId21"/>
    <p:sldId id="345" r:id="rId22"/>
    <p:sldId id="340" r:id="rId23"/>
    <p:sldId id="341" r:id="rId24"/>
    <p:sldId id="347" r:id="rId25"/>
    <p:sldId id="348" r:id="rId26"/>
    <p:sldId id="364" r:id="rId27"/>
    <p:sldId id="371" r:id="rId28"/>
    <p:sldId id="374" r:id="rId29"/>
    <p:sldId id="372" r:id="rId30"/>
    <p:sldId id="373" r:id="rId31"/>
    <p:sldId id="352" r:id="rId32"/>
    <p:sldId id="367" r:id="rId33"/>
    <p:sldId id="368" r:id="rId34"/>
    <p:sldId id="287" r:id="rId35"/>
    <p:sldId id="370" r:id="rId36"/>
    <p:sldId id="358" r:id="rId37"/>
    <p:sldId id="359" r:id="rId38"/>
    <p:sldId id="375" r:id="rId39"/>
  </p:sldIdLst>
  <p:sldSz cx="9144000" cy="5143500" type="screen16x9"/>
  <p:notesSz cx="6858000" cy="9144000"/>
  <p:embeddedFontLst>
    <p:embeddedFont>
      <p:font typeface="Aharoni" panose="02010803020104030203" pitchFamily="2" charset="-79"/>
      <p:bold r:id="rId41"/>
    </p:embeddedFont>
    <p:embeddedFont>
      <p:font typeface="Garamond" panose="02020404030301010803" pitchFamily="18" charset="0"/>
      <p:regular r:id="rId42"/>
      <p:bold r:id="rId43"/>
      <p:italic r:id="rId44"/>
      <p:boldItalic r:id="rId45"/>
    </p:embeddedFont>
    <p:embeddedFont>
      <p:font typeface="Nunito" pitchFamily="2" charset="0"/>
      <p:regular r:id="rId46"/>
      <p:bold r:id="rId47"/>
      <p:italic r:id="rId48"/>
      <p:boldItalic r:id="rId49"/>
    </p:embeddedFont>
    <p:embeddedFont>
      <p:font typeface="Nunito Light" pitchFamily="2" charset="0"/>
      <p:regular r:id="rId50"/>
      <p: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1C94"/>
    <a:srgbClr val="0E9CD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208AA44-8DF0-4E3E-AAF5-EDE2DD36187A}">
  <a:tblStyle styleId="{E208AA44-8DF0-4E3E-AAF5-EDE2DD3618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108D31A-4945-45EF-BD0A-C752E85B287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351" autoAdjust="0"/>
    <p:restoredTop sz="94664"/>
  </p:normalViewPr>
  <p:slideViewPr>
    <p:cSldViewPr snapToGrid="0">
      <p:cViewPr varScale="1">
        <p:scale>
          <a:sx n="75" d="100"/>
          <a:sy n="75" d="100"/>
        </p:scale>
        <p:origin x="60" y="96"/>
      </p:cViewPr>
      <p:guideLst>
        <p:guide orient="horz" pos="164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font" Target="fonts/font7.fntdata"/><Relationship Id="rId50" Type="http://schemas.openxmlformats.org/officeDocument/2006/relationships/font" Target="fonts/font10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font" Target="fonts/font8.fntdata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font" Target="fonts/font11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0" Type="http://schemas.openxmlformats.org/officeDocument/2006/relationships/slide" Target="slides/slide19.xml"/><Relationship Id="rId41" Type="http://schemas.openxmlformats.org/officeDocument/2006/relationships/font" Target="fonts/font1.fntdata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lash Rao" userId="37ba5a490523be0d" providerId="LiveId" clId="{B3334318-5129-49E3-B352-D3E001CB7C94}"/>
    <pc:docChg chg="undo custSel modSld">
      <pc:chgData name="Kalash Rao" userId="37ba5a490523be0d" providerId="LiveId" clId="{B3334318-5129-49E3-B352-D3E001CB7C94}" dt="2026-07-08T02:42:33.507" v="1659" actId="1076"/>
      <pc:docMkLst>
        <pc:docMk/>
      </pc:docMkLst>
      <pc:sldChg chg="modSp mod">
        <pc:chgData name="Kalash Rao" userId="37ba5a490523be0d" providerId="LiveId" clId="{B3334318-5129-49E3-B352-D3E001CB7C94}" dt="2026-07-08T02:42:33.507" v="1659" actId="1076"/>
        <pc:sldMkLst>
          <pc:docMk/>
          <pc:sldMk cId="3496108520" sldId="311"/>
        </pc:sldMkLst>
        <pc:spChg chg="mod">
          <ac:chgData name="Kalash Rao" userId="37ba5a490523be0d" providerId="LiveId" clId="{B3334318-5129-49E3-B352-D3E001CB7C94}" dt="2026-07-08T02:42:33.507" v="1659" actId="1076"/>
          <ac:spMkLst>
            <pc:docMk/>
            <pc:sldMk cId="3496108520" sldId="311"/>
            <ac:spMk id="6" creationId="{65F558F6-BB55-977F-25A3-8920FA0BE03C}"/>
          </ac:spMkLst>
        </pc:spChg>
        <pc:graphicFrameChg chg="mod">
          <ac:chgData name="Kalash Rao" userId="37ba5a490523be0d" providerId="LiveId" clId="{B3334318-5129-49E3-B352-D3E001CB7C94}" dt="2026-07-08T02:42:23.208" v="1658" actId="1076"/>
          <ac:graphicFrameMkLst>
            <pc:docMk/>
            <pc:sldMk cId="3496108520" sldId="311"/>
            <ac:graphicFrameMk id="11" creationId="{FC431695-D4E4-ED89-FC6A-B5B54A03FAD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2880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64219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5219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79966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92592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12970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3934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0587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4421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30525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42154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36553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3081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745972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30074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32824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733175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207927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83729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32154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2388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474904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4788508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97550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8970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234156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35369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65866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a7f1eb541e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a7f1eb541e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a7f1eb541e_0_2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a7f1eb541e_0_2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352724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7777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87256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737961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9184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4616903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767253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283994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9830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685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575705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806072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9396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92890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720000" y="1982625"/>
            <a:ext cx="3702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013275"/>
            <a:ext cx="1109400" cy="10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720000" y="2735350"/>
            <a:ext cx="2436300" cy="6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3"/>
          </p:nvPr>
        </p:nvSpPr>
        <p:spPr>
          <a:xfrm>
            <a:off x="5071600" y="971025"/>
            <a:ext cx="3201600" cy="3201600"/>
          </a:xfrm>
          <a:prstGeom prst="ellipse">
            <a:avLst/>
          </a:prstGeom>
          <a:noFill/>
          <a:ln>
            <a:noFill/>
          </a:ln>
          <a:effectLst>
            <a:outerShdw blurRad="28575" dist="57150" dir="66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722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6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893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245933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57345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0CF2CA-B8AB-4BE3-82D1-ADE70E9BAB11}" type="datetimeFigureOut">
              <a:rPr lang="en-IN" smtClean="0"/>
              <a:t>08-07-2026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596AE9-C0BD-4170-A9A6-C4A437C978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5541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rchive.ics.uci.edu/dataset/231/pamap2+physical+activity+monito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0167865518302326" TargetMode="External"/><Relationship Id="rId3" Type="http://schemas.openxmlformats.org/officeDocument/2006/relationships/hyperlink" Target="https://ieeexplore.ieee.org/document/6246152" TargetMode="External"/><Relationship Id="rId7" Type="http://schemas.openxmlformats.org/officeDocument/2006/relationships/hyperlink" Target="https://www.esann.org/sites/default/files/proceedings/legacy/es2013-84.pdf" TargetMode="Externa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dl.acm.org/doi/10.1145/2499621" TargetMode="External"/><Relationship Id="rId5" Type="http://schemas.openxmlformats.org/officeDocument/2006/relationships/hyperlink" Target="https://dl.acm.org/doi/10.1145/2939672.2939785" TargetMode="External"/><Relationship Id="rId4" Type="http://schemas.openxmlformats.org/officeDocument/2006/relationships/hyperlink" Target="https://archive.ics.uci.edu/dataset/231/pamap2+physical+activity+monitoring" TargetMode="External"/><Relationship Id="rId9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18;p36">
            <a:extLst>
              <a:ext uri="{FF2B5EF4-FFF2-40B4-BE49-F238E27FC236}">
                <a16:creationId xmlns:a16="http://schemas.microsoft.com/office/drawing/2014/main" id="{65F558F6-BB55-977F-25A3-8920FA0BE03C}"/>
              </a:ext>
            </a:extLst>
          </p:cNvPr>
          <p:cNvSpPr txBox="1">
            <a:spLocks/>
          </p:cNvSpPr>
          <p:nvPr/>
        </p:nvSpPr>
        <p:spPr>
          <a:xfrm>
            <a:off x="152400" y="1584024"/>
            <a:ext cx="8991600" cy="892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4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r>
              <a:rPr lang="en-US" sz="2000" dirty="0">
                <a:latin typeface="Garamond" panose="02020404030301010803" pitchFamily="18" charset="0"/>
              </a:rPr>
              <a:t>Course Project Title: </a:t>
            </a:r>
            <a:r>
              <a:rPr lang="en-US" sz="2000" dirty="0">
                <a:solidFill>
                  <a:srgbClr val="3E1C94"/>
                </a:solidFill>
                <a:latin typeface="Garamond" panose="02020404030301010803" pitchFamily="18" charset="0"/>
              </a:rPr>
              <a:t>Reliability of Health Data from Wearables using Machine 			Learning-Based Human Activity Recognition </a:t>
            </a:r>
            <a:endParaRPr lang="en-US" sz="2800" dirty="0">
              <a:solidFill>
                <a:srgbClr val="3E1C94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Google Shape;319;p36">
            <a:extLst>
              <a:ext uri="{FF2B5EF4-FFF2-40B4-BE49-F238E27FC236}">
                <a16:creationId xmlns:a16="http://schemas.microsoft.com/office/drawing/2014/main" id="{472ADB55-9B4E-EB6A-3E3A-EF0BAC5D94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032995" y="4307224"/>
            <a:ext cx="6655126" cy="710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Under the guidance of </a:t>
            </a: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: Dr. Prema T. </a:t>
            </a:r>
            <a:r>
              <a:rPr lang="en-US" sz="1400" b="1" dirty="0" err="1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Akkasaligar</a:t>
            </a:r>
            <a:endParaRPr lang="en-US" sz="1400" b="1" dirty="0">
              <a:solidFill>
                <a:schemeClr val="bg2">
                  <a:lumMod val="10000"/>
                </a:schemeClr>
              </a:solidFill>
              <a:latin typeface="Garamond" panose="02020404030301010803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                                      </a:t>
            </a: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Professor, Department of CSE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          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9D071-0337-1E78-E014-30668840AA66}"/>
              </a:ext>
            </a:extLst>
          </p:cNvPr>
          <p:cNvSpPr txBox="1"/>
          <p:nvPr/>
        </p:nvSpPr>
        <p:spPr>
          <a:xfrm>
            <a:off x="1657450" y="672273"/>
            <a:ext cx="62978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solidFill>
                  <a:srgbClr val="C00000"/>
                </a:solidFill>
                <a:latin typeface="Garamond" panose="02020404030301010803" pitchFamily="18" charset="0"/>
              </a:rPr>
              <a:t>Department of Computer Science and Engineering(AI)  </a:t>
            </a:r>
            <a:endParaRPr lang="en-IN" sz="2000" b="1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25061-DE11-723C-B3CF-1F49C8BBD21C}"/>
              </a:ext>
            </a:extLst>
          </p:cNvPr>
          <p:cNvSpPr txBox="1"/>
          <p:nvPr/>
        </p:nvSpPr>
        <p:spPr>
          <a:xfrm>
            <a:off x="1808495" y="1008362"/>
            <a:ext cx="62828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Garamond" panose="02020404030301010803" pitchFamily="18" charset="0"/>
              </a:rPr>
              <a:t>Machine Learning (25ECAC214)</a:t>
            </a:r>
          </a:p>
          <a:p>
            <a:pPr algn="ctr"/>
            <a:r>
              <a:rPr lang="en-US" sz="2000" b="1" dirty="0">
                <a:latin typeface="Garamond" panose="02020404030301010803" pitchFamily="18" charset="0"/>
              </a:rPr>
              <a:t>IV Sem     Year: 2025-26                    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431695-D4E4-ED89-FC6A-B5B54A03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942886"/>
              </p:ext>
            </p:extLst>
          </p:nvPr>
        </p:nvGraphicFramePr>
        <p:xfrm>
          <a:off x="2107268" y="2490660"/>
          <a:ext cx="5398194" cy="1693431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635594">
                  <a:extLst>
                    <a:ext uri="{9D8B030D-6E8A-4147-A177-3AD203B41FA5}">
                      <a16:colId xmlns:a16="http://schemas.microsoft.com/office/drawing/2014/main" val="2888427786"/>
                    </a:ext>
                  </a:extLst>
                </a:gridCol>
                <a:gridCol w="2063503">
                  <a:extLst>
                    <a:ext uri="{9D8B030D-6E8A-4147-A177-3AD203B41FA5}">
                      <a16:colId xmlns:a16="http://schemas.microsoft.com/office/drawing/2014/main" val="1922841597"/>
                    </a:ext>
                  </a:extLst>
                </a:gridCol>
                <a:gridCol w="844556">
                  <a:extLst>
                    <a:ext uri="{9D8B030D-6E8A-4147-A177-3AD203B41FA5}">
                      <a16:colId xmlns:a16="http://schemas.microsoft.com/office/drawing/2014/main" val="1871954988"/>
                    </a:ext>
                  </a:extLst>
                </a:gridCol>
                <a:gridCol w="1854541">
                  <a:extLst>
                    <a:ext uri="{9D8B030D-6E8A-4147-A177-3AD203B41FA5}">
                      <a16:colId xmlns:a16="http://schemas.microsoft.com/office/drawing/2014/main" val="237001879"/>
                    </a:ext>
                  </a:extLst>
                </a:gridCol>
              </a:tblGrid>
              <a:tr h="31833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122176"/>
                  </a:ext>
                </a:extLst>
              </a:tr>
              <a:tr h="34293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Kalash Rao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02FE24BCI053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4483042"/>
                  </a:ext>
                </a:extLst>
              </a:tr>
              <a:tr h="34293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Bhoomika Kalal 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02FE24BCI019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186413"/>
                  </a:ext>
                </a:extLst>
              </a:tr>
              <a:tr h="34293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Tejaswini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Ontagoli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02FE24BCI044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9399248"/>
                  </a:ext>
                </a:extLst>
              </a:tr>
              <a:tr h="346292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Sameed Gani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02FE24BCI027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152303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4185" y="98312"/>
            <a:ext cx="2934742" cy="698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08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801776" y="17462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</a:pPr>
            <a:r>
              <a:rPr lang="en" dirty="0"/>
              <a:t>Contents </a:t>
            </a:r>
            <a:endParaRPr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 flipV="1">
            <a:off x="193288" y="897527"/>
            <a:ext cx="8303941" cy="68912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45E5762-6A9F-8DF5-E5DD-81D91764EB37}"/>
              </a:ext>
            </a:extLst>
          </p:cNvPr>
          <p:cNvSpPr txBox="1"/>
          <p:nvPr/>
        </p:nvSpPr>
        <p:spPr>
          <a:xfrm>
            <a:off x="634506" y="896183"/>
            <a:ext cx="4242293" cy="3280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Introduction </a:t>
            </a: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/>
            </a:pPr>
            <a:r>
              <a:rPr 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Sustainable development goal </a:t>
            </a:r>
            <a:endParaRPr lang="en-US" sz="2000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Domain Understanding </a:t>
            </a: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Dataset description</a:t>
            </a: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Data Pre-processing </a:t>
            </a:r>
          </a:p>
          <a:p>
            <a:pPr marL="457200" lvl="2" indent="-457200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/>
            </a:pP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Data</a:t>
            </a:r>
            <a:r>
              <a:rPr 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Analysis and Visualizations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028087" y="966439"/>
            <a:ext cx="379252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 startAt="8"/>
            </a:pP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Feature selection &amp; engineering</a:t>
            </a: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 startAt="8"/>
            </a:pPr>
            <a:r>
              <a:rPr 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Model building and evaluation</a:t>
            </a:r>
            <a:endParaRPr lang="en-US" sz="2000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 startAt="8"/>
            </a:pPr>
            <a:r>
              <a:rPr 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Key</a:t>
            </a: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 findings</a:t>
            </a: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 startAt="8"/>
            </a:pPr>
            <a:r>
              <a:rPr lang="en-US" sz="2000" dirty="0">
                <a:solidFill>
                  <a:schemeClr val="tx1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Conclusions </a:t>
            </a:r>
          </a:p>
          <a:p>
            <a:pPr marL="457200" lvl="2" indent="-457200" algn="just">
              <a:lnSpc>
                <a:spcPct val="150000"/>
              </a:lnSpc>
              <a:buClr>
                <a:srgbClr val="C00000"/>
              </a:buClr>
              <a:buSzPts val="2400"/>
              <a:buFont typeface="+mj-lt"/>
              <a:buAutoNum type="arabicPeriod" startAt="8"/>
            </a:pPr>
            <a:r>
              <a:rPr lang="en-US" sz="2000" dirty="0">
                <a:latin typeface="Garamond" panose="02020404030301010803" pitchFamily="18" charset="0"/>
                <a:cs typeface="Times New Roman" panose="02020603050405020304" pitchFamily="18" charset="0"/>
              </a:rPr>
              <a:t>References</a:t>
            </a:r>
            <a:endParaRPr lang="en-US" sz="2000" dirty="0">
              <a:solidFill>
                <a:schemeClr val="tx1"/>
              </a:solidFill>
              <a:latin typeface="Garamond" panose="02020404030301010803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325990" y="111250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Introduction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185854" y="97658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D50AA50-37C2-3CC3-427B-76FB76F8CB29}"/>
              </a:ext>
            </a:extLst>
          </p:cNvPr>
          <p:cNvSpPr txBox="1"/>
          <p:nvPr/>
        </p:nvSpPr>
        <p:spPr>
          <a:xfrm>
            <a:off x="315951" y="1108099"/>
            <a:ext cx="5365181" cy="3370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Reliability of Health Data from Wearable Devices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Wearable devices such as smartwatches and fitness trackers are widely used for continuous health and activity monitoring.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These devices collect physiological and motion data including heart rate, movement patterns, sleep activity, and calorie estimation.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Human Activity Recognition (HAR) systems use wearable sensor signals to identify activities like walking, running, sitting, and cycling.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However, wearable predictions are often affected by sensor noise, motion artifacts, environmental conditions, and user variability.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/>
              <a:t>This creates challenges in determining whether wearable health predictions are truly reliable for real-world usage.</a:t>
            </a:r>
          </a:p>
          <a:p>
            <a:endParaRPr lang="en-IN" sz="11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4392183-F653-3001-FE50-B3CCCE5B0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4859" y="1684873"/>
            <a:ext cx="3525792" cy="235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922239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185854" y="111249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 Motivation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185854" y="897526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550EC7E-85AC-D697-5F3A-4E35EA0C8E55}"/>
              </a:ext>
            </a:extLst>
          </p:cNvPr>
          <p:cNvSpPr txBox="1"/>
          <p:nvPr/>
        </p:nvSpPr>
        <p:spPr>
          <a:xfrm>
            <a:off x="185855" y="1134559"/>
            <a:ext cx="4716346" cy="425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Wearable devices are increasingly used for fitness tracking and health monitoring.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Most wearable systems provide activity predictions without indicating their reliability or confidence.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Incorrect wearable predictions may lead to misleading health insights and wrong user interpretation.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Sensor noise, body movement variations, and environmental factors reduce prediction consistency.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These challenges motivated us to develop a reliability-aware wearable activity recognition system.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7E92B26-A0D5-5FFE-033D-732CA35F8A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7988" y="1683803"/>
            <a:ext cx="4037727" cy="226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1796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167365" y="862961"/>
            <a:ext cx="8303941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2F95A23-EABB-53C7-6F99-FD46098DD0CC}"/>
              </a:ext>
            </a:extLst>
          </p:cNvPr>
          <p:cNvSpPr txBox="1">
            <a:spLocks/>
          </p:cNvSpPr>
          <p:nvPr/>
        </p:nvSpPr>
        <p:spPr>
          <a:xfrm>
            <a:off x="167365" y="996943"/>
            <a:ext cx="8471306" cy="38872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●"/>
              <a:defRPr sz="14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○"/>
              <a:defRPr sz="14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Light"/>
              <a:buChar char="■"/>
              <a:defRPr sz="1400" b="0" i="0" u="none" strike="noStrike" cap="none">
                <a:solidFill>
                  <a:schemeClr val="dk1"/>
                </a:solidFill>
                <a:latin typeface="Hind Madurai"/>
                <a:ea typeface="Hind Madurai"/>
                <a:cs typeface="Hind Madurai"/>
                <a:sym typeface="Hind Madurai"/>
              </a:defRPr>
            </a:lvl9pPr>
          </a:lstStyle>
          <a:p>
            <a:pPr marL="139700" indent="0">
              <a:buNone/>
            </a:pPr>
            <a:r>
              <a:rPr lang="en-US" sz="2000" b="1" dirty="0"/>
              <a:t>To develop a machine learning-based wearable activity recognition system that not only predicts human activities but also evaluates the reliability of wearable sensor data.</a:t>
            </a:r>
          </a:p>
          <a:p>
            <a:pPr marL="139700" indent="0">
              <a:buNone/>
            </a:pPr>
            <a:br>
              <a:rPr lang="en-US" sz="2000" dirty="0"/>
            </a:br>
            <a:endParaRPr lang="en-US" sz="2000" dirty="0"/>
          </a:p>
          <a:p>
            <a:pPr marL="139700" indent="0">
              <a:buNone/>
            </a:pPr>
            <a:r>
              <a:rPr lang="en-US" sz="2000" b="1" dirty="0"/>
              <a:t>Objectives</a:t>
            </a:r>
          </a:p>
          <a:p>
            <a:pPr marL="139700" indent="0">
              <a:buNone/>
            </a:pPr>
            <a:r>
              <a:rPr lang="en-US" sz="2000" b="1" dirty="0"/>
              <a:t>Objective 1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Develop a Human Activity Recognition (HAR) system using wearable sensor data.</a:t>
            </a:r>
          </a:p>
          <a:p>
            <a:pPr marL="139700" indent="0">
              <a:buNone/>
            </a:pPr>
            <a:r>
              <a:rPr lang="en-US" sz="2000" b="1" dirty="0"/>
              <a:t>Objective 2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Analyze the reliability and confidence of wearable activity predictions.</a:t>
            </a:r>
          </a:p>
          <a:p>
            <a:pPr marL="139700" indent="0">
              <a:buNone/>
            </a:pPr>
            <a:r>
              <a:rPr lang="en-US" sz="2000" b="1" dirty="0"/>
              <a:t>Objective 3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Improve prediction robustness using feature engineering and ensemble machine learning techniques.</a:t>
            </a:r>
          </a:p>
          <a:p>
            <a:pPr marL="13335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326;p37">
            <a:extLst>
              <a:ext uri="{FF2B5EF4-FFF2-40B4-BE49-F238E27FC236}">
                <a16:creationId xmlns:a16="http://schemas.microsoft.com/office/drawing/2014/main" id="{5DDA625B-1228-55BB-4E1C-D4B6A29D016A}"/>
              </a:ext>
            </a:extLst>
          </p:cNvPr>
          <p:cNvSpPr txBox="1">
            <a:spLocks/>
          </p:cNvSpPr>
          <p:nvPr/>
        </p:nvSpPr>
        <p:spPr>
          <a:xfrm>
            <a:off x="352196" y="94785"/>
            <a:ext cx="7704000" cy="83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Kumbh Sans"/>
              <a:buNone/>
              <a:defRPr sz="33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Kumbh Sans"/>
              <a:buNone/>
              <a:defRPr sz="3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Problem statement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49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185854" y="976588"/>
            <a:ext cx="8385717" cy="0"/>
          </a:xfrm>
          <a:prstGeom prst="line">
            <a:avLst/>
          </a:prstGeom>
          <a:ln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A571394-C637-E2FB-BA96-C427CA8ABD66}"/>
              </a:ext>
            </a:extLst>
          </p:cNvPr>
          <p:cNvSpPr txBox="1"/>
          <p:nvPr/>
        </p:nvSpPr>
        <p:spPr>
          <a:xfrm>
            <a:off x="193242" y="-39075"/>
            <a:ext cx="87649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0E9C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3: Good Health and Well Being</a:t>
            </a:r>
          </a:p>
          <a:p>
            <a:pPr algn="ctr"/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Healthy Lives and Promote Well Being for All at All Ages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41A765E-8DD0-EEB2-51B3-4FA832505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78" y="1036278"/>
            <a:ext cx="4858818" cy="3941980"/>
          </a:xfrm>
          <a:prstGeom prst="rect">
            <a:avLst/>
          </a:prstGeom>
        </p:spPr>
      </p:pic>
      <p:pic>
        <p:nvPicPr>
          <p:cNvPr id="3074" name="Picture 2" descr="Sustainable Development Goal 3 - Points to Remember | Epomedicine">
            <a:extLst>
              <a:ext uri="{FF2B5EF4-FFF2-40B4-BE49-F238E27FC236}">
                <a16:creationId xmlns:a16="http://schemas.microsoft.com/office/drawing/2014/main" id="{1DD06351-431A-C723-340B-225572FD6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996" y="1635759"/>
            <a:ext cx="4161486" cy="295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9402" y="104148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84490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185854" y="1041992"/>
            <a:ext cx="8385717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06E3E47-C824-68CB-8C75-DF603E4B2C35}"/>
              </a:ext>
            </a:extLst>
          </p:cNvPr>
          <p:cNvSpPr txBox="1"/>
          <p:nvPr/>
        </p:nvSpPr>
        <p:spPr>
          <a:xfrm>
            <a:off x="104751" y="1168356"/>
            <a:ext cx="8702923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TARGETs</a:t>
            </a:r>
          </a:p>
          <a:p>
            <a:r>
              <a:rPr lang="en-IN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3.1    Reduce Maternal Mortality</a:t>
            </a: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3.2    End All Preventable Deaths Under 5 Years Of Age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3.3    Fight Communicable Diseases</a:t>
            </a:r>
          </a:p>
          <a:p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   Reduce Mortality From Non-communicable Diseases </a:t>
            </a:r>
          </a:p>
          <a:p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3.5    Prevent And Treat Substance Abuse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3.6    Road Injuries And Deaths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3.7    Universal Access To Sexual And Reproductive Care</a:t>
            </a:r>
          </a:p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3.8    Achieve Universal Health Coverage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3.9    Reduce Illnesses And Death From Hazardous Chemicals And Pollution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3.A    Implement The Who Framework Convention On Tobacco Control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3.B    Support Research, Development And Universal Access To Affordable Medicines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3.C    Increase Health Financing And Support Health Workforce In Developing Countries</a:t>
            </a:r>
          </a:p>
          <a:p>
            <a:r>
              <a:rPr lang="en-US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3.D    Improve Early Warning Systems For Global Health Risks</a:t>
            </a:r>
            <a:endParaRPr lang="en-IN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17AD5A-091F-F555-2E03-56D3F054A2EA}"/>
              </a:ext>
            </a:extLst>
          </p:cNvPr>
          <p:cNvSpPr txBox="1"/>
          <p:nvPr/>
        </p:nvSpPr>
        <p:spPr>
          <a:xfrm>
            <a:off x="572429" y="26329"/>
            <a:ext cx="776756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IN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0E9CD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SDG 3: Good Health and Well Being</a:t>
            </a:r>
          </a:p>
          <a:p>
            <a:pPr algn="ctr"/>
            <a:r>
              <a:rPr lang="en-IN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Ensure Healthy Lives and Promote Well Being for All at All Ages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1169" y="119562"/>
            <a:ext cx="1828080" cy="572700"/>
          </a:xfrm>
          <a:prstGeom prst="rect">
            <a:avLst/>
          </a:prstGeom>
        </p:spPr>
      </p:pic>
      <p:sp>
        <p:nvSpPr>
          <p:cNvPr id="2" name="Arrow: Bent-Up 1">
            <a:extLst>
              <a:ext uri="{FF2B5EF4-FFF2-40B4-BE49-F238E27FC236}">
                <a16:creationId xmlns:a16="http://schemas.microsoft.com/office/drawing/2014/main" id="{8A0ED438-C207-6285-7477-6C595B763E89}"/>
              </a:ext>
            </a:extLst>
          </p:cNvPr>
          <p:cNvSpPr/>
          <p:nvPr/>
        </p:nvSpPr>
        <p:spPr>
          <a:xfrm>
            <a:off x="5873435" y="4074564"/>
            <a:ext cx="2675467" cy="528138"/>
          </a:xfrm>
          <a:prstGeom prst="bentUpArrow">
            <a:avLst>
              <a:gd name="adj1" fmla="val 23397"/>
              <a:gd name="adj2" fmla="val 25000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07EA294-55FB-CBEB-A4E3-46CF15C41D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2545" y="2187417"/>
            <a:ext cx="1146704" cy="1887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12668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185854" y="97658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85853" y="296363"/>
            <a:ext cx="35349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Domain Understanding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98144B-2439-33EE-A797-0B69B0396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040" y="1058220"/>
            <a:ext cx="6127920" cy="4085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705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284854" y="-29202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Domain understanding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FC3B9C1-499B-0F34-7CBB-29163FBD2463}"/>
              </a:ext>
            </a:extLst>
          </p:cNvPr>
          <p:cNvGrpSpPr/>
          <p:nvPr/>
        </p:nvGrpSpPr>
        <p:grpSpPr>
          <a:xfrm>
            <a:off x="3633732" y="1026903"/>
            <a:ext cx="2487489" cy="2526329"/>
            <a:chOff x="3649623" y="434640"/>
            <a:chExt cx="5463449" cy="5598414"/>
          </a:xfrm>
        </p:grpSpPr>
        <p:grpSp>
          <p:nvGrpSpPr>
            <p:cNvPr id="16" name="Graphic 2">
              <a:extLst>
                <a:ext uri="{FF2B5EF4-FFF2-40B4-BE49-F238E27FC236}">
                  <a16:creationId xmlns:a16="http://schemas.microsoft.com/office/drawing/2014/main" id="{63EF5BF0-BD8F-4594-811A-09DC1F405121}"/>
                </a:ext>
              </a:extLst>
            </p:cNvPr>
            <p:cNvGrpSpPr/>
            <p:nvPr/>
          </p:nvGrpSpPr>
          <p:grpSpPr>
            <a:xfrm>
              <a:off x="3649623" y="434640"/>
              <a:ext cx="5087437" cy="5292028"/>
              <a:chOff x="3649623" y="434640"/>
              <a:chExt cx="5087437" cy="5292028"/>
            </a:xfrm>
          </p:grpSpPr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E093B93A-3BAB-5AEC-0E9E-5034B84B8B8E}"/>
                  </a:ext>
                </a:extLst>
              </p:cNvPr>
              <p:cNvSpPr/>
              <p:nvPr/>
            </p:nvSpPr>
            <p:spPr>
              <a:xfrm>
                <a:off x="3649623" y="434640"/>
                <a:ext cx="216568" cy="216569"/>
              </a:xfrm>
              <a:custGeom>
                <a:avLst/>
                <a:gdLst>
                  <a:gd name="connsiteX0" fmla="*/ -467 w 216569"/>
                  <a:gd name="connsiteY0" fmla="*/ 108057 h 216569"/>
                  <a:gd name="connsiteX1" fmla="*/ 107818 w 216569"/>
                  <a:gd name="connsiteY1" fmla="*/ -228 h 216569"/>
                  <a:gd name="connsiteX2" fmla="*/ 216103 w 216569"/>
                  <a:gd name="connsiteY2" fmla="*/ 108057 h 216569"/>
                  <a:gd name="connsiteX3" fmla="*/ 107818 w 216569"/>
                  <a:gd name="connsiteY3" fmla="*/ 216342 h 216569"/>
                  <a:gd name="connsiteX4" fmla="*/ -467 w 216569"/>
                  <a:gd name="connsiteY4" fmla="*/ 108057 h 216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569" h="216569">
                    <a:moveTo>
                      <a:pt x="-467" y="108057"/>
                    </a:moveTo>
                    <a:cubicBezTo>
                      <a:pt x="-467" y="48253"/>
                      <a:pt x="48014" y="-228"/>
                      <a:pt x="107818" y="-228"/>
                    </a:cubicBezTo>
                    <a:cubicBezTo>
                      <a:pt x="167622" y="-228"/>
                      <a:pt x="216103" y="48253"/>
                      <a:pt x="216103" y="108057"/>
                    </a:cubicBezTo>
                    <a:cubicBezTo>
                      <a:pt x="216103" y="167861"/>
                      <a:pt x="167622" y="216342"/>
                      <a:pt x="107818" y="216342"/>
                    </a:cubicBezTo>
                    <a:cubicBezTo>
                      <a:pt x="48014" y="216342"/>
                      <a:pt x="-467" y="167861"/>
                      <a:pt x="-467" y="108057"/>
                    </a:cubicBezTo>
                    <a:close/>
                  </a:path>
                </a:pathLst>
              </a:custGeom>
              <a:noFill/>
              <a:ln w="33722" cap="rnd">
                <a:solidFill>
                  <a:schemeClr val="accent3">
                    <a:lumMod val="75000"/>
                  </a:scheme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0FE5AE5-7409-A499-5EC2-10A3A55C4F40}"/>
                  </a:ext>
                </a:extLst>
              </p:cNvPr>
              <p:cNvSpPr/>
              <p:nvPr/>
            </p:nvSpPr>
            <p:spPr>
              <a:xfrm>
                <a:off x="3817746" y="542926"/>
                <a:ext cx="2539072" cy="1262986"/>
              </a:xfrm>
              <a:custGeom>
                <a:avLst/>
                <a:gdLst>
                  <a:gd name="connsiteX0" fmla="*/ 0 w 2539072"/>
                  <a:gd name="connsiteY0" fmla="*/ 0 h 1262986"/>
                  <a:gd name="connsiteX1" fmla="*/ 879267 w 2539072"/>
                  <a:gd name="connsiteY1" fmla="*/ 0 h 1262986"/>
                  <a:gd name="connsiteX2" fmla="*/ 2539072 w 2539072"/>
                  <a:gd name="connsiteY2" fmla="*/ 1262986 h 1262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39072" h="1262986">
                    <a:moveTo>
                      <a:pt x="0" y="0"/>
                    </a:moveTo>
                    <a:lnTo>
                      <a:pt x="879267" y="0"/>
                    </a:lnTo>
                    <a:lnTo>
                      <a:pt x="2539072" y="1262986"/>
                    </a:lnTo>
                  </a:path>
                </a:pathLst>
              </a:custGeom>
              <a:noFill/>
              <a:ln w="33722" cap="rnd">
                <a:solidFill>
                  <a:schemeClr val="accent3">
                    <a:lumMod val="75000"/>
                  </a:schemeClr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F5D535D5-01F1-F921-CAF6-DDC0FDD5BA97}"/>
                  </a:ext>
                </a:extLst>
              </p:cNvPr>
              <p:cNvSpPr/>
              <p:nvPr/>
            </p:nvSpPr>
            <p:spPr>
              <a:xfrm>
                <a:off x="8520491" y="1606652"/>
                <a:ext cx="216569" cy="216569"/>
              </a:xfrm>
              <a:custGeom>
                <a:avLst/>
                <a:gdLst>
                  <a:gd name="connsiteX0" fmla="*/ 216102 w 216569"/>
                  <a:gd name="connsiteY0" fmla="*/ 108057 h 216569"/>
                  <a:gd name="connsiteX1" fmla="*/ 107817 w 216569"/>
                  <a:gd name="connsiteY1" fmla="*/ -228 h 216569"/>
                  <a:gd name="connsiteX2" fmla="*/ -467 w 216569"/>
                  <a:gd name="connsiteY2" fmla="*/ 108057 h 216569"/>
                  <a:gd name="connsiteX3" fmla="*/ 107817 w 216569"/>
                  <a:gd name="connsiteY3" fmla="*/ 216342 h 216569"/>
                  <a:gd name="connsiteX4" fmla="*/ 216102 w 216569"/>
                  <a:gd name="connsiteY4" fmla="*/ 108057 h 216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569" h="216569">
                    <a:moveTo>
                      <a:pt x="216102" y="108057"/>
                    </a:moveTo>
                    <a:cubicBezTo>
                      <a:pt x="216102" y="48253"/>
                      <a:pt x="167638" y="-228"/>
                      <a:pt x="107817" y="-228"/>
                    </a:cubicBezTo>
                    <a:cubicBezTo>
                      <a:pt x="47997" y="-228"/>
                      <a:pt x="-467" y="48253"/>
                      <a:pt x="-467" y="108057"/>
                    </a:cubicBezTo>
                    <a:cubicBezTo>
                      <a:pt x="-467" y="167861"/>
                      <a:pt x="47997" y="216342"/>
                      <a:pt x="107817" y="216342"/>
                    </a:cubicBezTo>
                    <a:cubicBezTo>
                      <a:pt x="167638" y="216342"/>
                      <a:pt x="216102" y="167861"/>
                      <a:pt x="216102" y="108057"/>
                    </a:cubicBezTo>
                    <a:close/>
                  </a:path>
                </a:pathLst>
              </a:custGeom>
              <a:noFill/>
              <a:ln w="33722" cap="rnd">
                <a:solidFill>
                  <a:schemeClr val="accent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5192A58B-DF6D-5673-DCFF-4B307BFE18B0}"/>
                  </a:ext>
                </a:extLst>
              </p:cNvPr>
              <p:cNvSpPr/>
              <p:nvPr/>
            </p:nvSpPr>
            <p:spPr>
              <a:xfrm>
                <a:off x="8579580" y="1665742"/>
                <a:ext cx="98389" cy="98389"/>
              </a:xfrm>
              <a:custGeom>
                <a:avLst/>
                <a:gdLst>
                  <a:gd name="connsiteX0" fmla="*/ 97923 w 98389"/>
                  <a:gd name="connsiteY0" fmla="*/ 48967 h 98389"/>
                  <a:gd name="connsiteX1" fmla="*/ 48728 w 98389"/>
                  <a:gd name="connsiteY1" fmla="*/ -228 h 98389"/>
                  <a:gd name="connsiteX2" fmla="*/ -467 w 98389"/>
                  <a:gd name="connsiteY2" fmla="*/ 48967 h 98389"/>
                  <a:gd name="connsiteX3" fmla="*/ 48728 w 98389"/>
                  <a:gd name="connsiteY3" fmla="*/ 98162 h 98389"/>
                  <a:gd name="connsiteX4" fmla="*/ 97923 w 98389"/>
                  <a:gd name="connsiteY4" fmla="*/ 49079 h 98389"/>
                  <a:gd name="connsiteX5" fmla="*/ 97923 w 98389"/>
                  <a:gd name="connsiteY5" fmla="*/ 48967 h 983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8389" h="98389">
                    <a:moveTo>
                      <a:pt x="97923" y="48967"/>
                    </a:moveTo>
                    <a:cubicBezTo>
                      <a:pt x="97923" y="21800"/>
                      <a:pt x="75884" y="-228"/>
                      <a:pt x="48728" y="-228"/>
                    </a:cubicBezTo>
                    <a:cubicBezTo>
                      <a:pt x="21573" y="-228"/>
                      <a:pt x="-467" y="21800"/>
                      <a:pt x="-467" y="48967"/>
                    </a:cubicBezTo>
                    <a:cubicBezTo>
                      <a:pt x="-467" y="76134"/>
                      <a:pt x="21573" y="98162"/>
                      <a:pt x="48728" y="98162"/>
                    </a:cubicBezTo>
                    <a:cubicBezTo>
                      <a:pt x="75884" y="98196"/>
                      <a:pt x="97867" y="76218"/>
                      <a:pt x="97923" y="49079"/>
                    </a:cubicBezTo>
                    <a:cubicBezTo>
                      <a:pt x="97923" y="49040"/>
                      <a:pt x="97923" y="49006"/>
                      <a:pt x="97923" y="48967"/>
                    </a:cubicBezTo>
                    <a:close/>
                  </a:path>
                </a:pathLst>
              </a:custGeom>
              <a:solidFill>
                <a:srgbClr val="494949"/>
              </a:solidFill>
              <a:ln w="562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358855DC-CA0E-5996-8CD0-B49FC6576DDB}"/>
                  </a:ext>
                </a:extLst>
              </p:cNvPr>
              <p:cNvSpPr/>
              <p:nvPr/>
            </p:nvSpPr>
            <p:spPr>
              <a:xfrm>
                <a:off x="5981474" y="1715162"/>
                <a:ext cx="2539072" cy="1262986"/>
              </a:xfrm>
              <a:custGeom>
                <a:avLst/>
                <a:gdLst>
                  <a:gd name="connsiteX0" fmla="*/ 2539072 w 2539072"/>
                  <a:gd name="connsiteY0" fmla="*/ 0 h 1262986"/>
                  <a:gd name="connsiteX1" fmla="*/ 1659806 w 2539072"/>
                  <a:gd name="connsiteY1" fmla="*/ 0 h 1262986"/>
                  <a:gd name="connsiteX2" fmla="*/ 0 w 2539072"/>
                  <a:gd name="connsiteY2" fmla="*/ 1262986 h 12629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39072" h="1262986">
                    <a:moveTo>
                      <a:pt x="2539072" y="0"/>
                    </a:moveTo>
                    <a:lnTo>
                      <a:pt x="1659806" y="0"/>
                    </a:lnTo>
                    <a:lnTo>
                      <a:pt x="0" y="1262986"/>
                    </a:lnTo>
                  </a:path>
                </a:pathLst>
              </a:custGeom>
              <a:noFill/>
              <a:ln w="33722" cap="rnd">
                <a:solidFill>
                  <a:schemeClr val="accent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31B80FBF-2D06-E1DF-BC08-67B123D644BB}"/>
                  </a:ext>
                </a:extLst>
              </p:cNvPr>
              <p:cNvSpPr/>
              <p:nvPr/>
            </p:nvSpPr>
            <p:spPr>
              <a:xfrm>
                <a:off x="3824502" y="5510099"/>
                <a:ext cx="216568" cy="216569"/>
              </a:xfrm>
              <a:custGeom>
                <a:avLst/>
                <a:gdLst>
                  <a:gd name="connsiteX0" fmla="*/ -467 w 216569"/>
                  <a:gd name="connsiteY0" fmla="*/ 108057 h 216569"/>
                  <a:gd name="connsiteX1" fmla="*/ 107818 w 216569"/>
                  <a:gd name="connsiteY1" fmla="*/ 216342 h 216569"/>
                  <a:gd name="connsiteX2" fmla="*/ 216103 w 216569"/>
                  <a:gd name="connsiteY2" fmla="*/ 108057 h 216569"/>
                  <a:gd name="connsiteX3" fmla="*/ 107818 w 216569"/>
                  <a:gd name="connsiteY3" fmla="*/ -228 h 216569"/>
                  <a:gd name="connsiteX4" fmla="*/ -467 w 216569"/>
                  <a:gd name="connsiteY4" fmla="*/ 108057 h 2165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216569" h="216569">
                    <a:moveTo>
                      <a:pt x="-467" y="108057"/>
                    </a:moveTo>
                    <a:cubicBezTo>
                      <a:pt x="-467" y="167861"/>
                      <a:pt x="48014" y="216342"/>
                      <a:pt x="107818" y="216342"/>
                    </a:cubicBezTo>
                    <a:cubicBezTo>
                      <a:pt x="167622" y="216342"/>
                      <a:pt x="216103" y="167861"/>
                      <a:pt x="216103" y="108057"/>
                    </a:cubicBezTo>
                    <a:cubicBezTo>
                      <a:pt x="216103" y="48253"/>
                      <a:pt x="167622" y="-228"/>
                      <a:pt x="107818" y="-228"/>
                    </a:cubicBezTo>
                    <a:cubicBezTo>
                      <a:pt x="48014" y="-228"/>
                      <a:pt x="-467" y="48253"/>
                      <a:pt x="-467" y="108057"/>
                    </a:cubicBezTo>
                    <a:close/>
                  </a:path>
                </a:pathLst>
              </a:custGeom>
              <a:noFill/>
              <a:ln w="33722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529B715C-6006-8857-C4DC-21E00294BBB9}"/>
                  </a:ext>
                </a:extLst>
              </p:cNvPr>
              <p:cNvSpPr/>
              <p:nvPr/>
            </p:nvSpPr>
            <p:spPr>
              <a:xfrm>
                <a:off x="4056883" y="4333460"/>
                <a:ext cx="2539072" cy="1262929"/>
              </a:xfrm>
              <a:custGeom>
                <a:avLst/>
                <a:gdLst>
                  <a:gd name="connsiteX0" fmla="*/ 0 w 2539072"/>
                  <a:gd name="connsiteY0" fmla="*/ 1262930 h 1262929"/>
                  <a:gd name="connsiteX1" fmla="*/ 879267 w 2539072"/>
                  <a:gd name="connsiteY1" fmla="*/ 1262930 h 1262929"/>
                  <a:gd name="connsiteX2" fmla="*/ 2539072 w 2539072"/>
                  <a:gd name="connsiteY2" fmla="*/ 0 h 12629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2539072" h="1262929">
                    <a:moveTo>
                      <a:pt x="0" y="1262930"/>
                    </a:moveTo>
                    <a:lnTo>
                      <a:pt x="879267" y="1262930"/>
                    </a:lnTo>
                    <a:lnTo>
                      <a:pt x="2539072" y="0"/>
                    </a:lnTo>
                  </a:path>
                </a:pathLst>
              </a:custGeom>
              <a:noFill/>
              <a:ln w="33722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17" name="Graphic 2">
              <a:extLst>
                <a:ext uri="{FF2B5EF4-FFF2-40B4-BE49-F238E27FC236}">
                  <a16:creationId xmlns:a16="http://schemas.microsoft.com/office/drawing/2014/main" id="{77E60647-63DA-09C2-CE4D-5BAF5D038809}"/>
                </a:ext>
              </a:extLst>
            </p:cNvPr>
            <p:cNvGrpSpPr/>
            <p:nvPr/>
          </p:nvGrpSpPr>
          <p:grpSpPr>
            <a:xfrm>
              <a:off x="4467372" y="1459189"/>
              <a:ext cx="3022050" cy="3021547"/>
              <a:chOff x="4467372" y="1459189"/>
              <a:chExt cx="3022050" cy="3021547"/>
            </a:xfrm>
          </p:grpSpPr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B75A3AB8-C74A-777E-78CE-5BC34EB7A186}"/>
                  </a:ext>
                </a:extLst>
              </p:cNvPr>
              <p:cNvSpPr/>
              <p:nvPr/>
            </p:nvSpPr>
            <p:spPr>
              <a:xfrm>
                <a:off x="4467372" y="1459189"/>
                <a:ext cx="1511347" cy="1977567"/>
              </a:xfrm>
              <a:custGeom>
                <a:avLst/>
                <a:gdLst>
                  <a:gd name="connsiteX0" fmla="*/ 1510880 w 1511347"/>
                  <a:gd name="connsiteY0" fmla="*/ 1510523 h 1977567"/>
                  <a:gd name="connsiteX1" fmla="*/ 73885 w 1511347"/>
                  <a:gd name="connsiteY1" fmla="*/ 1977340 h 1977567"/>
                  <a:gd name="connsiteX2" fmla="*/ 1043838 w 1511347"/>
                  <a:gd name="connsiteY2" fmla="*/ 73752 h 1977567"/>
                  <a:gd name="connsiteX3" fmla="*/ 1510487 w 1511347"/>
                  <a:gd name="connsiteY3" fmla="*/ -181 h 197756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1347" h="1977567">
                    <a:moveTo>
                      <a:pt x="1510880" y="1510523"/>
                    </a:moveTo>
                    <a:lnTo>
                      <a:pt x="73885" y="1977340"/>
                    </a:lnTo>
                    <a:cubicBezTo>
                      <a:pt x="-183952" y="1183869"/>
                      <a:pt x="250311" y="331589"/>
                      <a:pt x="1043838" y="73752"/>
                    </a:cubicBezTo>
                    <a:cubicBezTo>
                      <a:pt x="1194240" y="23512"/>
                      <a:pt x="1351922" y="-1468"/>
                      <a:pt x="1510487" y="-181"/>
                    </a:cubicBezTo>
                    <a:close/>
                  </a:path>
                </a:pathLst>
              </a:custGeom>
              <a:solidFill>
                <a:schemeClr val="accent3">
                  <a:lumMod val="75000"/>
                </a:schemeClr>
              </a:solidFill>
              <a:ln w="2248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F4B052C3-F948-D6C2-31EF-EBE4759D707C}"/>
                  </a:ext>
                </a:extLst>
              </p:cNvPr>
              <p:cNvSpPr/>
              <p:nvPr/>
            </p:nvSpPr>
            <p:spPr>
              <a:xfrm>
                <a:off x="4541724" y="2969940"/>
                <a:ext cx="2324976" cy="1510797"/>
              </a:xfrm>
              <a:custGeom>
                <a:avLst/>
                <a:gdLst>
                  <a:gd name="connsiteX0" fmla="*/ 1436529 w 2324976"/>
                  <a:gd name="connsiteY0" fmla="*/ -228 h 1510797"/>
                  <a:gd name="connsiteX1" fmla="*/ 2324510 w 2324976"/>
                  <a:gd name="connsiteY1" fmla="*/ 1221941 h 1510797"/>
                  <a:gd name="connsiteX2" fmla="*/ 214360 w 2324976"/>
                  <a:gd name="connsiteY2" fmla="*/ 887697 h 1510797"/>
                  <a:gd name="connsiteX3" fmla="*/ -467 w 2324976"/>
                  <a:gd name="connsiteY3" fmla="*/ 466589 h 1510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324976" h="1510797">
                    <a:moveTo>
                      <a:pt x="1436529" y="-228"/>
                    </a:moveTo>
                    <a:lnTo>
                      <a:pt x="2324510" y="1221941"/>
                    </a:lnTo>
                    <a:cubicBezTo>
                      <a:pt x="1649500" y="1712371"/>
                      <a:pt x="704734" y="1562706"/>
                      <a:pt x="214360" y="887697"/>
                    </a:cubicBezTo>
                    <a:cubicBezTo>
                      <a:pt x="119951" y="760178"/>
                      <a:pt x="47356" y="617873"/>
                      <a:pt x="-467" y="466589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248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F18FE899-58CF-17AD-FC18-1CA2DD307F2E}"/>
                  </a:ext>
                </a:extLst>
              </p:cNvPr>
              <p:cNvSpPr/>
              <p:nvPr/>
            </p:nvSpPr>
            <p:spPr>
              <a:xfrm>
                <a:off x="5978720" y="1459237"/>
                <a:ext cx="1510703" cy="2732871"/>
              </a:xfrm>
              <a:custGeom>
                <a:avLst/>
                <a:gdLst>
                  <a:gd name="connsiteX0" fmla="*/ -467 w 1510703"/>
                  <a:gd name="connsiteY0" fmla="*/ 1510475 h 2732871"/>
                  <a:gd name="connsiteX1" fmla="*/ -467 w 1510703"/>
                  <a:gd name="connsiteY1" fmla="*/ -228 h 2732871"/>
                  <a:gd name="connsiteX2" fmla="*/ 1510237 w 1510703"/>
                  <a:gd name="connsiteY2" fmla="*/ 1510475 h 2732871"/>
                  <a:gd name="connsiteX3" fmla="*/ 887514 w 1510703"/>
                  <a:gd name="connsiteY3" fmla="*/ 2732644 h 27328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510703" h="2732871">
                    <a:moveTo>
                      <a:pt x="-467" y="1510475"/>
                    </a:moveTo>
                    <a:lnTo>
                      <a:pt x="-467" y="-228"/>
                    </a:lnTo>
                    <a:cubicBezTo>
                      <a:pt x="833877" y="-228"/>
                      <a:pt x="1510237" y="676131"/>
                      <a:pt x="1510237" y="1510475"/>
                    </a:cubicBezTo>
                    <a:cubicBezTo>
                      <a:pt x="1510237" y="2010857"/>
                      <a:pt x="1292486" y="2438150"/>
                      <a:pt x="887514" y="2732644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22482" cap="rnd">
                <a:solidFill>
                  <a:srgbClr val="FFFFFF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8" name="Graphic 2">
              <a:extLst>
                <a:ext uri="{FF2B5EF4-FFF2-40B4-BE49-F238E27FC236}">
                  <a16:creationId xmlns:a16="http://schemas.microsoft.com/office/drawing/2014/main" id="{C564AD68-6FFE-AA52-DD13-C8E83EB589AB}"/>
                </a:ext>
              </a:extLst>
            </p:cNvPr>
            <p:cNvGrpSpPr/>
            <p:nvPr/>
          </p:nvGrpSpPr>
          <p:grpSpPr>
            <a:xfrm>
              <a:off x="4408757" y="1405713"/>
              <a:ext cx="4704315" cy="4627341"/>
              <a:chOff x="4408757" y="1405713"/>
              <a:chExt cx="4704315" cy="4627341"/>
            </a:xfrm>
          </p:grpSpPr>
          <p:grpSp>
            <p:nvGrpSpPr>
              <p:cNvPr id="19" name="Graphic 2">
                <a:extLst>
                  <a:ext uri="{FF2B5EF4-FFF2-40B4-BE49-F238E27FC236}">
                    <a16:creationId xmlns:a16="http://schemas.microsoft.com/office/drawing/2014/main" id="{F5C7E618-8B7A-5F41-AB5B-BCD9181F5869}"/>
                  </a:ext>
                </a:extLst>
              </p:cNvPr>
              <p:cNvGrpSpPr/>
              <p:nvPr/>
            </p:nvGrpSpPr>
            <p:grpSpPr>
              <a:xfrm>
                <a:off x="7027712" y="4005962"/>
                <a:ext cx="2085360" cy="2027092"/>
                <a:chOff x="7027712" y="4005962"/>
                <a:chExt cx="2085360" cy="2027092"/>
              </a:xfrm>
            </p:grpSpPr>
            <p:sp>
              <p:nvSpPr>
                <p:cNvPr id="24" name="Freeform: Shape 23">
                  <a:extLst>
                    <a:ext uri="{FF2B5EF4-FFF2-40B4-BE49-F238E27FC236}">
                      <a16:creationId xmlns:a16="http://schemas.microsoft.com/office/drawing/2014/main" id="{5F2D17CF-E573-33C5-96C8-1F004B1EE7F1}"/>
                    </a:ext>
                  </a:extLst>
                </p:cNvPr>
                <p:cNvSpPr/>
                <p:nvPr/>
              </p:nvSpPr>
              <p:spPr>
                <a:xfrm rot="2700000">
                  <a:off x="7190464" y="4872141"/>
                  <a:ext cx="1915675" cy="406152"/>
                </a:xfrm>
                <a:custGeom>
                  <a:avLst/>
                  <a:gdLst>
                    <a:gd name="connsiteX0" fmla="*/ -467 w 1915675"/>
                    <a:gd name="connsiteY0" fmla="*/ -228 h 406152"/>
                    <a:gd name="connsiteX1" fmla="*/ 1915209 w 1915675"/>
                    <a:gd name="connsiteY1" fmla="*/ -228 h 406152"/>
                    <a:gd name="connsiteX2" fmla="*/ 1915209 w 1915675"/>
                    <a:gd name="connsiteY2" fmla="*/ 405925 h 406152"/>
                    <a:gd name="connsiteX3" fmla="*/ -467 w 1915675"/>
                    <a:gd name="connsiteY3" fmla="*/ 405925 h 406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915675" h="406152">
                      <a:moveTo>
                        <a:pt x="-467" y="-228"/>
                      </a:moveTo>
                      <a:lnTo>
                        <a:pt x="1915209" y="-228"/>
                      </a:lnTo>
                      <a:lnTo>
                        <a:pt x="1915209" y="405925"/>
                      </a:lnTo>
                      <a:lnTo>
                        <a:pt x="-467" y="40592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50545E"/>
                    </a:gs>
                    <a:gs pos="8000">
                      <a:srgbClr val="3B3E46"/>
                    </a:gs>
                    <a:gs pos="16000">
                      <a:srgbClr val="2B2D33"/>
                    </a:gs>
                    <a:gs pos="29000">
                      <a:srgbClr val="42464E"/>
                    </a:gs>
                    <a:gs pos="50000">
                      <a:srgbClr val="707682"/>
                    </a:gs>
                    <a:gs pos="59000">
                      <a:srgbClr val="686D78"/>
                    </a:gs>
                    <a:gs pos="74000">
                      <a:srgbClr val="51555E"/>
                    </a:gs>
                    <a:gs pos="92000">
                      <a:srgbClr val="2C2E34"/>
                    </a:gs>
                    <a:gs pos="100000">
                      <a:srgbClr val="1C1D21"/>
                    </a:gs>
                  </a:gsLst>
                  <a:lin ang="16200000" scaled="1"/>
                </a:gradFill>
                <a:ln w="56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5" name="Freeform: Shape 24">
                  <a:extLst>
                    <a:ext uri="{FF2B5EF4-FFF2-40B4-BE49-F238E27FC236}">
                      <a16:creationId xmlns:a16="http://schemas.microsoft.com/office/drawing/2014/main" id="{71B368B2-B6D0-A335-6AEF-B847BC474133}"/>
                    </a:ext>
                  </a:extLst>
                </p:cNvPr>
                <p:cNvSpPr/>
                <p:nvPr/>
              </p:nvSpPr>
              <p:spPr>
                <a:xfrm rot="2700000">
                  <a:off x="8873451" y="5523593"/>
                  <a:ext cx="73089" cy="406152"/>
                </a:xfrm>
                <a:custGeom>
                  <a:avLst/>
                  <a:gdLst>
                    <a:gd name="connsiteX0" fmla="*/ -467 w 73089"/>
                    <a:gd name="connsiteY0" fmla="*/ -228 h 406152"/>
                    <a:gd name="connsiteX1" fmla="*/ 72623 w 73089"/>
                    <a:gd name="connsiteY1" fmla="*/ -228 h 406152"/>
                    <a:gd name="connsiteX2" fmla="*/ 72623 w 73089"/>
                    <a:gd name="connsiteY2" fmla="*/ 405925 h 406152"/>
                    <a:gd name="connsiteX3" fmla="*/ -467 w 73089"/>
                    <a:gd name="connsiteY3" fmla="*/ 405925 h 406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73089" h="406152">
                      <a:moveTo>
                        <a:pt x="-467" y="-228"/>
                      </a:moveTo>
                      <a:lnTo>
                        <a:pt x="72623" y="-228"/>
                      </a:lnTo>
                      <a:lnTo>
                        <a:pt x="72623" y="405925"/>
                      </a:lnTo>
                      <a:lnTo>
                        <a:pt x="-467" y="40592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2B2D33"/>
                    </a:gs>
                    <a:gs pos="16000">
                      <a:srgbClr val="1C1D21"/>
                    </a:gs>
                    <a:gs pos="32000">
                      <a:srgbClr val="33353C"/>
                    </a:gs>
                    <a:gs pos="50000">
                      <a:srgbClr val="50545E"/>
                    </a:gs>
                    <a:gs pos="63000">
                      <a:srgbClr val="484B54"/>
                    </a:gs>
                    <a:gs pos="83000">
                      <a:srgbClr val="32343A"/>
                    </a:gs>
                    <a:gs pos="100000">
                      <a:srgbClr val="1C1D21"/>
                    </a:gs>
                  </a:gsLst>
                  <a:lin ang="16200000" scaled="1"/>
                </a:gradFill>
                <a:ln w="56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6" name="Freeform: Shape 25">
                  <a:extLst>
                    <a:ext uri="{FF2B5EF4-FFF2-40B4-BE49-F238E27FC236}">
                      <a16:creationId xmlns:a16="http://schemas.microsoft.com/office/drawing/2014/main" id="{D5B2579A-08E7-5724-82A4-1C5A6BD4E2B5}"/>
                    </a:ext>
                  </a:extLst>
                </p:cNvPr>
                <p:cNvSpPr/>
                <p:nvPr/>
              </p:nvSpPr>
              <p:spPr>
                <a:xfrm rot="2700000">
                  <a:off x="7377762" y="4235178"/>
                  <a:ext cx="67635" cy="346219"/>
                </a:xfrm>
                <a:custGeom>
                  <a:avLst/>
                  <a:gdLst>
                    <a:gd name="connsiteX0" fmla="*/ -467 w 67635"/>
                    <a:gd name="connsiteY0" fmla="*/ -228 h 346219"/>
                    <a:gd name="connsiteX1" fmla="*/ 67169 w 67635"/>
                    <a:gd name="connsiteY1" fmla="*/ -228 h 346219"/>
                    <a:gd name="connsiteX2" fmla="*/ 67169 w 67635"/>
                    <a:gd name="connsiteY2" fmla="*/ 345992 h 346219"/>
                    <a:gd name="connsiteX3" fmla="*/ -467 w 67635"/>
                    <a:gd name="connsiteY3" fmla="*/ 345992 h 34621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67635" h="346219">
                      <a:moveTo>
                        <a:pt x="-467" y="-228"/>
                      </a:moveTo>
                      <a:lnTo>
                        <a:pt x="67169" y="-228"/>
                      </a:lnTo>
                      <a:lnTo>
                        <a:pt x="67169" y="345992"/>
                      </a:lnTo>
                      <a:lnTo>
                        <a:pt x="-467" y="345992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2000">
                      <a:srgbClr val="EAEAEA"/>
                    </a:gs>
                    <a:gs pos="9000">
                      <a:srgbClr val="9D9C9B"/>
                    </a:gs>
                    <a:gs pos="14000">
                      <a:srgbClr val="6C6B69"/>
                    </a:gs>
                    <a:gs pos="16000">
                      <a:srgbClr val="595856"/>
                    </a:gs>
                    <a:gs pos="24000">
                      <a:srgbClr val="747371"/>
                    </a:gs>
                    <a:gs pos="41000">
                      <a:srgbClr val="B8B7B5"/>
                    </a:gs>
                    <a:gs pos="50000">
                      <a:srgbClr val="E0DEDC"/>
                    </a:gs>
                    <a:gs pos="56000">
                      <a:srgbClr val="D6D4D2"/>
                    </a:gs>
                    <a:gs pos="67000">
                      <a:srgbClr val="BCBAB8"/>
                    </a:gs>
                    <a:gs pos="80000">
                      <a:srgbClr val="92908E"/>
                    </a:gs>
                    <a:gs pos="95000">
                      <a:srgbClr val="575653"/>
                    </a:gs>
                    <a:gs pos="100000">
                      <a:srgbClr val="444340"/>
                    </a:gs>
                  </a:gsLst>
                  <a:lin ang="16200000" scaled="1"/>
                </a:gradFill>
                <a:ln w="56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7" name="Freeform: Shape 26">
                  <a:extLst>
                    <a:ext uri="{FF2B5EF4-FFF2-40B4-BE49-F238E27FC236}">
                      <a16:creationId xmlns:a16="http://schemas.microsoft.com/office/drawing/2014/main" id="{EC00AEC0-B569-77DC-BF43-7EB23B6DDD60}"/>
                    </a:ext>
                  </a:extLst>
                </p:cNvPr>
                <p:cNvSpPr/>
                <p:nvPr/>
              </p:nvSpPr>
              <p:spPr>
                <a:xfrm rot="2700000">
                  <a:off x="7009102" y="4024572"/>
                  <a:ext cx="443372" cy="406152"/>
                </a:xfrm>
                <a:custGeom>
                  <a:avLst/>
                  <a:gdLst>
                    <a:gd name="connsiteX0" fmla="*/ -467 w 443372"/>
                    <a:gd name="connsiteY0" fmla="*/ -228 h 406152"/>
                    <a:gd name="connsiteX1" fmla="*/ 442905 w 443372"/>
                    <a:gd name="connsiteY1" fmla="*/ -228 h 406152"/>
                    <a:gd name="connsiteX2" fmla="*/ 442905 w 443372"/>
                    <a:gd name="connsiteY2" fmla="*/ 405925 h 406152"/>
                    <a:gd name="connsiteX3" fmla="*/ -467 w 443372"/>
                    <a:gd name="connsiteY3" fmla="*/ 405925 h 40615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43372" h="406152">
                      <a:moveTo>
                        <a:pt x="-467" y="-228"/>
                      </a:moveTo>
                      <a:lnTo>
                        <a:pt x="442905" y="-228"/>
                      </a:lnTo>
                      <a:lnTo>
                        <a:pt x="442905" y="405925"/>
                      </a:lnTo>
                      <a:lnTo>
                        <a:pt x="-467" y="405925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FFFFFF"/>
                    </a:gs>
                    <a:gs pos="5000">
                      <a:srgbClr val="E4E4E4"/>
                    </a:gs>
                    <a:gs pos="14000">
                      <a:srgbClr val="A7A7A7"/>
                    </a:gs>
                    <a:gs pos="25000">
                      <a:srgbClr val="BEBEBE"/>
                    </a:gs>
                    <a:gs pos="48000">
                      <a:srgbClr val="F8F8F8"/>
                    </a:gs>
                    <a:gs pos="50000">
                      <a:srgbClr val="FFFFFF"/>
                    </a:gs>
                    <a:gs pos="56000">
                      <a:srgbClr val="F5F5F5"/>
                    </a:gs>
                    <a:gs pos="66000">
                      <a:srgbClr val="DCDCDB"/>
                    </a:gs>
                    <a:gs pos="78000">
                      <a:srgbClr val="B2B1B1"/>
                    </a:gs>
                    <a:gs pos="93000">
                      <a:srgbClr val="797876"/>
                    </a:gs>
                    <a:gs pos="100000">
                      <a:srgbClr val="595856"/>
                    </a:gs>
                  </a:gsLst>
                  <a:lin ang="16200000" scaled="1"/>
                </a:gradFill>
                <a:ln w="56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  <p:grpSp>
            <p:nvGrpSpPr>
              <p:cNvPr id="20" name="Graphic 2">
                <a:extLst>
                  <a:ext uri="{FF2B5EF4-FFF2-40B4-BE49-F238E27FC236}">
                    <a16:creationId xmlns:a16="http://schemas.microsoft.com/office/drawing/2014/main" id="{C07A19EE-F7E5-63B6-2505-30CF67649F2E}"/>
                  </a:ext>
                </a:extLst>
              </p:cNvPr>
              <p:cNvGrpSpPr/>
              <p:nvPr/>
            </p:nvGrpSpPr>
            <p:grpSpPr>
              <a:xfrm>
                <a:off x="4408757" y="1405713"/>
                <a:ext cx="3145378" cy="3145096"/>
                <a:chOff x="4408757" y="1405713"/>
                <a:chExt cx="3145378" cy="3145096"/>
              </a:xfrm>
            </p:grpSpPr>
            <p:sp>
              <p:nvSpPr>
                <p:cNvPr id="21" name="Freeform: Shape 20">
                  <a:extLst>
                    <a:ext uri="{FF2B5EF4-FFF2-40B4-BE49-F238E27FC236}">
                      <a16:creationId xmlns:a16="http://schemas.microsoft.com/office/drawing/2014/main" id="{49D65AE6-E29B-FEBD-3794-690A303E8D94}"/>
                    </a:ext>
                  </a:extLst>
                </p:cNvPr>
                <p:cNvSpPr/>
                <p:nvPr/>
              </p:nvSpPr>
              <p:spPr>
                <a:xfrm>
                  <a:off x="4408757" y="1405713"/>
                  <a:ext cx="3145378" cy="3145096"/>
                </a:xfrm>
                <a:custGeom>
                  <a:avLst/>
                  <a:gdLst>
                    <a:gd name="connsiteX0" fmla="*/ 1572194 w 3145378"/>
                    <a:gd name="connsiteY0" fmla="*/ -228 h 3145096"/>
                    <a:gd name="connsiteX1" fmla="*/ -467 w 3145378"/>
                    <a:gd name="connsiteY1" fmla="*/ 1572489 h 3145096"/>
                    <a:gd name="connsiteX2" fmla="*/ 1572194 w 3145378"/>
                    <a:gd name="connsiteY2" fmla="*/ 3144869 h 3145096"/>
                    <a:gd name="connsiteX3" fmla="*/ 3144911 w 3145378"/>
                    <a:gd name="connsiteY3" fmla="*/ 1572208 h 3145096"/>
                    <a:gd name="connsiteX4" fmla="*/ 1572194 w 3145378"/>
                    <a:gd name="connsiteY4" fmla="*/ -228 h 3145096"/>
                    <a:gd name="connsiteX5" fmla="*/ 1572194 w 3145378"/>
                    <a:gd name="connsiteY5" fmla="*/ 3109167 h 3145096"/>
                    <a:gd name="connsiteX6" fmla="*/ 35572 w 3145378"/>
                    <a:gd name="connsiteY6" fmla="*/ 1572489 h 3145096"/>
                    <a:gd name="connsiteX7" fmla="*/ 1572194 w 3145378"/>
                    <a:gd name="connsiteY7" fmla="*/ 35530 h 3145096"/>
                    <a:gd name="connsiteX8" fmla="*/ 3108872 w 3145378"/>
                    <a:gd name="connsiteY8" fmla="*/ 1572208 h 3145096"/>
                    <a:gd name="connsiteX9" fmla="*/ 1572194 w 3145378"/>
                    <a:gd name="connsiteY9" fmla="*/ 3108886 h 31450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145378" h="3145096">
                      <a:moveTo>
                        <a:pt x="1572194" y="-228"/>
                      </a:moveTo>
                      <a:cubicBezTo>
                        <a:pt x="703666" y="-228"/>
                        <a:pt x="-467" y="703905"/>
                        <a:pt x="-467" y="1572489"/>
                      </a:cubicBezTo>
                      <a:cubicBezTo>
                        <a:pt x="-467" y="2441073"/>
                        <a:pt x="703666" y="3144869"/>
                        <a:pt x="1572194" y="3144869"/>
                      </a:cubicBezTo>
                      <a:cubicBezTo>
                        <a:pt x="2440722" y="3144869"/>
                        <a:pt x="3144911" y="2440792"/>
                        <a:pt x="3144911" y="1572208"/>
                      </a:cubicBezTo>
                      <a:cubicBezTo>
                        <a:pt x="3144911" y="703624"/>
                        <a:pt x="2440779" y="-228"/>
                        <a:pt x="1572194" y="-228"/>
                      </a:cubicBezTo>
                      <a:close/>
                      <a:moveTo>
                        <a:pt x="1572194" y="3109167"/>
                      </a:moveTo>
                      <a:cubicBezTo>
                        <a:pt x="723232" y="3109167"/>
                        <a:pt x="35572" y="2421170"/>
                        <a:pt x="35572" y="1572489"/>
                      </a:cubicBezTo>
                      <a:cubicBezTo>
                        <a:pt x="35572" y="723808"/>
                        <a:pt x="723513" y="35530"/>
                        <a:pt x="1572194" y="35530"/>
                      </a:cubicBezTo>
                      <a:cubicBezTo>
                        <a:pt x="2420875" y="35530"/>
                        <a:pt x="3108872" y="723527"/>
                        <a:pt x="3108872" y="1572208"/>
                      </a:cubicBezTo>
                      <a:cubicBezTo>
                        <a:pt x="3108872" y="2420889"/>
                        <a:pt x="2420763" y="3108886"/>
                        <a:pt x="1572194" y="3108886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B2D33"/>
                    </a:gs>
                    <a:gs pos="50000">
                      <a:srgbClr val="4D515A"/>
                    </a:gs>
                    <a:gs pos="100000">
                      <a:srgbClr val="707682"/>
                    </a:gs>
                  </a:gsLst>
                  <a:lin ang="13500000" scaled="1"/>
                </a:gradFill>
                <a:ln w="56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2" name="Freeform: Shape 21">
                  <a:extLst>
                    <a:ext uri="{FF2B5EF4-FFF2-40B4-BE49-F238E27FC236}">
                      <a16:creationId xmlns:a16="http://schemas.microsoft.com/office/drawing/2014/main" id="{0F96CCD2-9A01-2854-F00D-82DD5B3D5305}"/>
                    </a:ext>
                  </a:extLst>
                </p:cNvPr>
                <p:cNvSpPr/>
                <p:nvPr/>
              </p:nvSpPr>
              <p:spPr>
                <a:xfrm>
                  <a:off x="4444796" y="1441470"/>
                  <a:ext cx="3073300" cy="3073356"/>
                </a:xfrm>
                <a:custGeom>
                  <a:avLst/>
                  <a:gdLst>
                    <a:gd name="connsiteX0" fmla="*/ 1536155 w 3073300"/>
                    <a:gd name="connsiteY0" fmla="*/ -228 h 3073356"/>
                    <a:gd name="connsiteX1" fmla="*/ -467 w 3073300"/>
                    <a:gd name="connsiteY1" fmla="*/ 1536450 h 3073356"/>
                    <a:gd name="connsiteX2" fmla="*/ 1536155 w 3073300"/>
                    <a:gd name="connsiteY2" fmla="*/ 3073129 h 3073356"/>
                    <a:gd name="connsiteX3" fmla="*/ 3072833 w 3073300"/>
                    <a:gd name="connsiteY3" fmla="*/ 1536450 h 3073356"/>
                    <a:gd name="connsiteX4" fmla="*/ 1536155 w 3073300"/>
                    <a:gd name="connsiteY4" fmla="*/ -228 h 3073356"/>
                    <a:gd name="connsiteX5" fmla="*/ 1536155 w 3073300"/>
                    <a:gd name="connsiteY5" fmla="*/ 3005830 h 3073356"/>
                    <a:gd name="connsiteX6" fmla="*/ 66775 w 3073300"/>
                    <a:gd name="connsiteY6" fmla="*/ 1536450 h 3073356"/>
                    <a:gd name="connsiteX7" fmla="*/ 1536155 w 3073300"/>
                    <a:gd name="connsiteY7" fmla="*/ 67071 h 3073356"/>
                    <a:gd name="connsiteX8" fmla="*/ 3005535 w 3073300"/>
                    <a:gd name="connsiteY8" fmla="*/ 1536450 h 3073356"/>
                    <a:gd name="connsiteX9" fmla="*/ 1536155 w 3073300"/>
                    <a:gd name="connsiteY9" fmla="*/ 3005661 h 307335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3073300" h="3073356">
                      <a:moveTo>
                        <a:pt x="1536155" y="-228"/>
                      </a:moveTo>
                      <a:cubicBezTo>
                        <a:pt x="687193" y="-228"/>
                        <a:pt x="-467" y="687769"/>
                        <a:pt x="-467" y="1536450"/>
                      </a:cubicBezTo>
                      <a:cubicBezTo>
                        <a:pt x="-467" y="2385132"/>
                        <a:pt x="687474" y="3073129"/>
                        <a:pt x="1536155" y="3073129"/>
                      </a:cubicBezTo>
                      <a:cubicBezTo>
                        <a:pt x="2384837" y="3073129"/>
                        <a:pt x="3072833" y="2385132"/>
                        <a:pt x="3072833" y="1536450"/>
                      </a:cubicBezTo>
                      <a:cubicBezTo>
                        <a:pt x="3072833" y="687769"/>
                        <a:pt x="2384724" y="-228"/>
                        <a:pt x="1536155" y="-228"/>
                      </a:cubicBezTo>
                      <a:close/>
                      <a:moveTo>
                        <a:pt x="1536155" y="3005830"/>
                      </a:moveTo>
                      <a:cubicBezTo>
                        <a:pt x="724637" y="3005830"/>
                        <a:pt x="66775" y="2348025"/>
                        <a:pt x="66775" y="1536450"/>
                      </a:cubicBezTo>
                      <a:cubicBezTo>
                        <a:pt x="66775" y="724876"/>
                        <a:pt x="724581" y="67071"/>
                        <a:pt x="1536155" y="67071"/>
                      </a:cubicBezTo>
                      <a:cubicBezTo>
                        <a:pt x="2347730" y="67071"/>
                        <a:pt x="3005535" y="724876"/>
                        <a:pt x="3005535" y="1536450"/>
                      </a:cubicBezTo>
                      <a:cubicBezTo>
                        <a:pt x="3005535" y="2348025"/>
                        <a:pt x="2347673" y="3005661"/>
                        <a:pt x="1536155" y="300566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707682"/>
                    </a:gs>
                    <a:gs pos="50000">
                      <a:srgbClr val="4D515A"/>
                    </a:gs>
                    <a:gs pos="100000">
                      <a:srgbClr val="2B2D33"/>
                    </a:gs>
                  </a:gsLst>
                  <a:lin ang="13500000" scaled="1"/>
                </a:gradFill>
                <a:ln w="56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  <p:sp>
              <p:nvSpPr>
                <p:cNvPr id="23" name="Freeform: Shape 22">
                  <a:extLst>
                    <a:ext uri="{FF2B5EF4-FFF2-40B4-BE49-F238E27FC236}">
                      <a16:creationId xmlns:a16="http://schemas.microsoft.com/office/drawing/2014/main" id="{8F0C1637-7095-D5AC-F991-C1A3D6E16381}"/>
                    </a:ext>
                  </a:extLst>
                </p:cNvPr>
                <p:cNvSpPr/>
                <p:nvPr/>
              </p:nvSpPr>
              <p:spPr>
                <a:xfrm>
                  <a:off x="4482690" y="1479364"/>
                  <a:ext cx="2997512" cy="2997512"/>
                </a:xfrm>
                <a:custGeom>
                  <a:avLst/>
                  <a:gdLst>
                    <a:gd name="connsiteX0" fmla="*/ 1498261 w 2997512"/>
                    <a:gd name="connsiteY0" fmla="*/ -228 h 2997512"/>
                    <a:gd name="connsiteX1" fmla="*/ -467 w 2997512"/>
                    <a:gd name="connsiteY1" fmla="*/ 1498556 h 2997512"/>
                    <a:gd name="connsiteX2" fmla="*/ 1498261 w 2997512"/>
                    <a:gd name="connsiteY2" fmla="*/ 2997284 h 2997512"/>
                    <a:gd name="connsiteX3" fmla="*/ 2997045 w 2997512"/>
                    <a:gd name="connsiteY3" fmla="*/ 1498556 h 2997512"/>
                    <a:gd name="connsiteX4" fmla="*/ 1498261 w 2997512"/>
                    <a:gd name="connsiteY4" fmla="*/ -228 h 2997512"/>
                    <a:gd name="connsiteX5" fmla="*/ 1498261 w 2997512"/>
                    <a:gd name="connsiteY5" fmla="*/ 2967936 h 2997512"/>
                    <a:gd name="connsiteX6" fmla="*/ 28881 w 2997512"/>
                    <a:gd name="connsiteY6" fmla="*/ 1498556 h 2997512"/>
                    <a:gd name="connsiteX7" fmla="*/ 1498261 w 2997512"/>
                    <a:gd name="connsiteY7" fmla="*/ 29176 h 2997512"/>
                    <a:gd name="connsiteX8" fmla="*/ 2967641 w 2997512"/>
                    <a:gd name="connsiteY8" fmla="*/ 1498556 h 2997512"/>
                    <a:gd name="connsiteX9" fmla="*/ 1498261 w 2997512"/>
                    <a:gd name="connsiteY9" fmla="*/ 2967767 h 29975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2997512" h="2997512">
                      <a:moveTo>
                        <a:pt x="1498261" y="-228"/>
                      </a:moveTo>
                      <a:cubicBezTo>
                        <a:pt x="670551" y="-228"/>
                        <a:pt x="-467" y="670790"/>
                        <a:pt x="-467" y="1498556"/>
                      </a:cubicBezTo>
                      <a:cubicBezTo>
                        <a:pt x="-467" y="2326323"/>
                        <a:pt x="670551" y="2997284"/>
                        <a:pt x="1498261" y="2997284"/>
                      </a:cubicBezTo>
                      <a:cubicBezTo>
                        <a:pt x="2325972" y="2997284"/>
                        <a:pt x="2997045" y="2326267"/>
                        <a:pt x="2997045" y="1498556"/>
                      </a:cubicBezTo>
                      <a:cubicBezTo>
                        <a:pt x="2997045" y="670846"/>
                        <a:pt x="2326028" y="-228"/>
                        <a:pt x="1498261" y="-228"/>
                      </a:cubicBezTo>
                      <a:close/>
                      <a:moveTo>
                        <a:pt x="1498261" y="2967936"/>
                      </a:moveTo>
                      <a:cubicBezTo>
                        <a:pt x="686743" y="2967936"/>
                        <a:pt x="28881" y="2310131"/>
                        <a:pt x="28881" y="1498556"/>
                      </a:cubicBezTo>
                      <a:cubicBezTo>
                        <a:pt x="28881" y="686982"/>
                        <a:pt x="686686" y="29176"/>
                        <a:pt x="1498261" y="29176"/>
                      </a:cubicBezTo>
                      <a:cubicBezTo>
                        <a:pt x="2309836" y="29176"/>
                        <a:pt x="2967641" y="686982"/>
                        <a:pt x="2967641" y="1498556"/>
                      </a:cubicBezTo>
                      <a:cubicBezTo>
                        <a:pt x="2967641" y="2310131"/>
                        <a:pt x="2309779" y="2967767"/>
                        <a:pt x="1498261" y="296776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A3A3A3"/>
                    </a:gs>
                    <a:gs pos="1000">
                      <a:srgbClr val="9B9B9B"/>
                    </a:gs>
                    <a:gs pos="6000">
                      <a:srgbClr val="777777"/>
                    </a:gs>
                    <a:gs pos="12000">
                      <a:srgbClr val="575757"/>
                    </a:gs>
                    <a:gs pos="18000">
                      <a:srgbClr val="3B3B3B"/>
                    </a:gs>
                    <a:gs pos="26000">
                      <a:srgbClr val="252525"/>
                    </a:gs>
                    <a:gs pos="34000">
                      <a:srgbClr val="141414"/>
                    </a:gs>
                    <a:gs pos="45000">
                      <a:srgbClr val="090909"/>
                    </a:gs>
                    <a:gs pos="59000">
                      <a:srgbClr val="020202"/>
                    </a:gs>
                    <a:gs pos="100000">
                      <a:srgbClr val="000000"/>
                    </a:gs>
                  </a:gsLst>
                  <a:lin ang="13500046" scaled="1"/>
                </a:gradFill>
                <a:ln w="562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/>
                </a:p>
              </p:txBody>
            </p:sp>
          </p:grpSp>
        </p:grpSp>
      </p:grpSp>
      <p:sp>
        <p:nvSpPr>
          <p:cNvPr id="321" name="TextBox 320">
            <a:extLst>
              <a:ext uri="{FF2B5EF4-FFF2-40B4-BE49-F238E27FC236}">
                <a16:creationId xmlns:a16="http://schemas.microsoft.com/office/drawing/2014/main" id="{3B00F561-2A6A-7BE6-43C7-3EBE4646D302}"/>
              </a:ext>
            </a:extLst>
          </p:cNvPr>
          <p:cNvSpPr txBox="1"/>
          <p:nvPr/>
        </p:nvSpPr>
        <p:spPr>
          <a:xfrm>
            <a:off x="6360759" y="884516"/>
            <a:ext cx="272702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Reliability of Wearable Predictions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Wearable predictions may become unreliable due to sensor noise and motion variations.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Confidence estimation helps evaluate prediction trustworthiness.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Reliability-aware systems improve safer health and fitness monitoring.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3BE8F7DD-F212-6CEF-CBB8-FD768E5EF0C0}"/>
              </a:ext>
            </a:extLst>
          </p:cNvPr>
          <p:cNvSpPr txBox="1"/>
          <p:nvPr/>
        </p:nvSpPr>
        <p:spPr>
          <a:xfrm>
            <a:off x="6677" y="919149"/>
            <a:ext cx="379691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Wearable Sensors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IMU sensors capture body movement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Sensors are placed on the hand, chest, and ankle.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Accelerometer and gyroscope signals are mainly used for activity recognition.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CD2E980F-CC8C-98D9-335E-3CC32D012B7C}"/>
              </a:ext>
            </a:extLst>
          </p:cNvPr>
          <p:cNvSpPr txBox="1"/>
          <p:nvPr/>
        </p:nvSpPr>
        <p:spPr>
          <a:xfrm>
            <a:off x="0" y="3259829"/>
            <a:ext cx="636075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Human Activity Recognition (HAR)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HAR identifies physical activities using wearable sensor signals.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Activities include walking, running, sitting, cycling, and standing.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Machine learning models learn activity patterns from time-series sensor data.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35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284854" y="-29202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Dataset description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1A2FD7-EB8B-1148-B595-B7723EA5A056}"/>
              </a:ext>
            </a:extLst>
          </p:cNvPr>
          <p:cNvSpPr txBox="1"/>
          <p:nvPr/>
        </p:nvSpPr>
        <p:spPr>
          <a:xfrm>
            <a:off x="462280" y="1086882"/>
            <a:ext cx="86055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The project uses the PAMAP2 Physical Activity Monitoring dataset. The dataset contains wearable sensor recordings collected from multiple human subjects. Sensor data is captured using IMU devices placed on the: Hand , Chest , Ankle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Activities include: Lying, Sitting, Standing, Walking, Running, Cycling, Nordic Walking, Ascending Stairs, Descending Stairs, Vacuum Cleaning, Ironing, Rope Jumping, Watching TV, Computer Work, Car Driving, Folding Laundry, House Cleaning, Playing Soccer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dirty="0"/>
              <a:t>Source Link: </a:t>
            </a:r>
            <a:r>
              <a:rPr lang="en-US" dirty="0">
                <a:hlinkClick r:id="rId3"/>
              </a:rPr>
              <a:t>https://archive.ics.uci.edu/dataset/231/pamap2+physical+activity+monitoring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Google Shape;12709;p89">
            <a:extLst>
              <a:ext uri="{FF2B5EF4-FFF2-40B4-BE49-F238E27FC236}">
                <a16:creationId xmlns:a16="http://schemas.microsoft.com/office/drawing/2014/main" id="{27C76350-E7BA-7B30-B531-496AA6BE42A8}"/>
              </a:ext>
            </a:extLst>
          </p:cNvPr>
          <p:cNvGrpSpPr/>
          <p:nvPr/>
        </p:nvGrpSpPr>
        <p:grpSpPr>
          <a:xfrm>
            <a:off x="7505105" y="3949204"/>
            <a:ext cx="1496139" cy="1112004"/>
            <a:chOff x="6083810" y="1547297"/>
            <a:chExt cx="382819" cy="310788"/>
          </a:xfrm>
        </p:grpSpPr>
        <p:sp>
          <p:nvSpPr>
            <p:cNvPr id="8" name="Google Shape;12710;p89">
              <a:extLst>
                <a:ext uri="{FF2B5EF4-FFF2-40B4-BE49-F238E27FC236}">
                  <a16:creationId xmlns:a16="http://schemas.microsoft.com/office/drawing/2014/main" id="{5AB90952-0D07-56F4-5E4B-E48818050B9B}"/>
                </a:ext>
              </a:extLst>
            </p:cNvPr>
            <p:cNvSpPr/>
            <p:nvPr/>
          </p:nvSpPr>
          <p:spPr>
            <a:xfrm>
              <a:off x="6083810" y="1547297"/>
              <a:ext cx="382819" cy="310788"/>
            </a:xfrm>
            <a:custGeom>
              <a:avLst/>
              <a:gdLst/>
              <a:ahLst/>
              <a:cxnLst/>
              <a:rect l="l" t="t" r="r" b="b"/>
              <a:pathLst>
                <a:path w="12027" h="9764" extrusionOk="0">
                  <a:moveTo>
                    <a:pt x="1834" y="334"/>
                  </a:moveTo>
                  <a:cubicBezTo>
                    <a:pt x="1834" y="334"/>
                    <a:pt x="1846" y="334"/>
                    <a:pt x="1846" y="358"/>
                  </a:cubicBezTo>
                  <a:lnTo>
                    <a:pt x="1846" y="1108"/>
                  </a:lnTo>
                  <a:cubicBezTo>
                    <a:pt x="1846" y="1108"/>
                    <a:pt x="1846" y="1132"/>
                    <a:pt x="1834" y="1132"/>
                  </a:cubicBezTo>
                  <a:lnTo>
                    <a:pt x="1465" y="1132"/>
                  </a:lnTo>
                  <a:cubicBezTo>
                    <a:pt x="1465" y="1132"/>
                    <a:pt x="1453" y="1132"/>
                    <a:pt x="1453" y="1108"/>
                  </a:cubicBezTo>
                  <a:lnTo>
                    <a:pt x="1453" y="358"/>
                  </a:lnTo>
                  <a:lnTo>
                    <a:pt x="1834" y="334"/>
                  </a:lnTo>
                  <a:close/>
                  <a:moveTo>
                    <a:pt x="10502" y="334"/>
                  </a:moveTo>
                  <a:cubicBezTo>
                    <a:pt x="10502" y="334"/>
                    <a:pt x="10514" y="334"/>
                    <a:pt x="10514" y="358"/>
                  </a:cubicBezTo>
                  <a:lnTo>
                    <a:pt x="10514" y="1108"/>
                  </a:lnTo>
                  <a:cubicBezTo>
                    <a:pt x="10514" y="1108"/>
                    <a:pt x="10514" y="1132"/>
                    <a:pt x="10502" y="1132"/>
                  </a:cubicBezTo>
                  <a:lnTo>
                    <a:pt x="10133" y="1132"/>
                  </a:lnTo>
                  <a:cubicBezTo>
                    <a:pt x="10133" y="1132"/>
                    <a:pt x="10109" y="1132"/>
                    <a:pt x="10109" y="1108"/>
                  </a:cubicBezTo>
                  <a:lnTo>
                    <a:pt x="10109" y="358"/>
                  </a:lnTo>
                  <a:lnTo>
                    <a:pt x="10502" y="334"/>
                  </a:lnTo>
                  <a:close/>
                  <a:moveTo>
                    <a:pt x="11229" y="1096"/>
                  </a:moveTo>
                  <a:cubicBezTo>
                    <a:pt x="11443" y="1096"/>
                    <a:pt x="11621" y="1274"/>
                    <a:pt x="11621" y="1477"/>
                  </a:cubicBezTo>
                  <a:lnTo>
                    <a:pt x="11621" y="9013"/>
                  </a:lnTo>
                  <a:cubicBezTo>
                    <a:pt x="11645" y="9240"/>
                    <a:pt x="11467" y="9406"/>
                    <a:pt x="11264" y="9406"/>
                  </a:cubicBezTo>
                  <a:lnTo>
                    <a:pt x="727" y="9406"/>
                  </a:lnTo>
                  <a:cubicBezTo>
                    <a:pt x="513" y="9406"/>
                    <a:pt x="334" y="9228"/>
                    <a:pt x="334" y="9013"/>
                  </a:cubicBezTo>
                  <a:lnTo>
                    <a:pt x="334" y="1477"/>
                  </a:lnTo>
                  <a:cubicBezTo>
                    <a:pt x="334" y="1274"/>
                    <a:pt x="513" y="1096"/>
                    <a:pt x="727" y="1096"/>
                  </a:cubicBezTo>
                  <a:lnTo>
                    <a:pt x="1108" y="1096"/>
                  </a:lnTo>
                  <a:lnTo>
                    <a:pt x="1108" y="1108"/>
                  </a:lnTo>
                  <a:cubicBezTo>
                    <a:pt x="1108" y="1322"/>
                    <a:pt x="1275" y="1465"/>
                    <a:pt x="1465" y="1465"/>
                  </a:cubicBezTo>
                  <a:lnTo>
                    <a:pt x="1834" y="1465"/>
                  </a:lnTo>
                  <a:cubicBezTo>
                    <a:pt x="2049" y="1465"/>
                    <a:pt x="2192" y="1298"/>
                    <a:pt x="2192" y="1108"/>
                  </a:cubicBezTo>
                  <a:lnTo>
                    <a:pt x="2192" y="1096"/>
                  </a:lnTo>
                  <a:lnTo>
                    <a:pt x="9752" y="1096"/>
                  </a:lnTo>
                  <a:lnTo>
                    <a:pt x="9752" y="1108"/>
                  </a:lnTo>
                  <a:cubicBezTo>
                    <a:pt x="9752" y="1322"/>
                    <a:pt x="9919" y="1465"/>
                    <a:pt x="10109" y="1465"/>
                  </a:cubicBezTo>
                  <a:lnTo>
                    <a:pt x="10490" y="1465"/>
                  </a:lnTo>
                  <a:cubicBezTo>
                    <a:pt x="10693" y="1465"/>
                    <a:pt x="10848" y="1298"/>
                    <a:pt x="10848" y="1108"/>
                  </a:cubicBezTo>
                  <a:lnTo>
                    <a:pt x="10848" y="1096"/>
                  </a:lnTo>
                  <a:close/>
                  <a:moveTo>
                    <a:pt x="1489" y="0"/>
                  </a:moveTo>
                  <a:cubicBezTo>
                    <a:pt x="1287" y="0"/>
                    <a:pt x="1132" y="155"/>
                    <a:pt x="1132" y="358"/>
                  </a:cubicBezTo>
                  <a:lnTo>
                    <a:pt x="1132" y="739"/>
                  </a:lnTo>
                  <a:lnTo>
                    <a:pt x="751" y="739"/>
                  </a:lnTo>
                  <a:cubicBezTo>
                    <a:pt x="346" y="739"/>
                    <a:pt x="1" y="1072"/>
                    <a:pt x="1" y="1489"/>
                  </a:cubicBezTo>
                  <a:lnTo>
                    <a:pt x="1" y="9013"/>
                  </a:lnTo>
                  <a:cubicBezTo>
                    <a:pt x="1" y="9418"/>
                    <a:pt x="334" y="9764"/>
                    <a:pt x="751" y="9764"/>
                  </a:cubicBezTo>
                  <a:lnTo>
                    <a:pt x="11288" y="9764"/>
                  </a:lnTo>
                  <a:cubicBezTo>
                    <a:pt x="11693" y="9764"/>
                    <a:pt x="12026" y="9430"/>
                    <a:pt x="12026" y="9013"/>
                  </a:cubicBezTo>
                  <a:lnTo>
                    <a:pt x="12026" y="1489"/>
                  </a:lnTo>
                  <a:cubicBezTo>
                    <a:pt x="12002" y="1084"/>
                    <a:pt x="11657" y="739"/>
                    <a:pt x="11264" y="739"/>
                  </a:cubicBezTo>
                  <a:lnTo>
                    <a:pt x="10871" y="739"/>
                  </a:lnTo>
                  <a:lnTo>
                    <a:pt x="10871" y="358"/>
                  </a:lnTo>
                  <a:cubicBezTo>
                    <a:pt x="10871" y="143"/>
                    <a:pt x="10705" y="0"/>
                    <a:pt x="10514" y="0"/>
                  </a:cubicBezTo>
                  <a:lnTo>
                    <a:pt x="10145" y="0"/>
                  </a:lnTo>
                  <a:cubicBezTo>
                    <a:pt x="9931" y="0"/>
                    <a:pt x="9788" y="155"/>
                    <a:pt x="9788" y="358"/>
                  </a:cubicBezTo>
                  <a:lnTo>
                    <a:pt x="9788" y="739"/>
                  </a:lnTo>
                  <a:lnTo>
                    <a:pt x="2227" y="739"/>
                  </a:lnTo>
                  <a:lnTo>
                    <a:pt x="2227" y="358"/>
                  </a:lnTo>
                  <a:cubicBezTo>
                    <a:pt x="2227" y="143"/>
                    <a:pt x="2061" y="0"/>
                    <a:pt x="1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2711;p89">
              <a:extLst>
                <a:ext uri="{FF2B5EF4-FFF2-40B4-BE49-F238E27FC236}">
                  <a16:creationId xmlns:a16="http://schemas.microsoft.com/office/drawing/2014/main" id="{59A20FF3-9138-7B6E-630D-5B6FB6FFC193}"/>
                </a:ext>
              </a:extLst>
            </p:cNvPr>
            <p:cNvSpPr/>
            <p:nvPr/>
          </p:nvSpPr>
          <p:spPr>
            <a:xfrm>
              <a:off x="6106950" y="1606787"/>
              <a:ext cx="334661" cy="11395"/>
            </a:xfrm>
            <a:custGeom>
              <a:avLst/>
              <a:gdLst/>
              <a:ahLst/>
              <a:cxnLst/>
              <a:rect l="l" t="t" r="r" b="b"/>
              <a:pathLst>
                <a:path w="10514" h="358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0335" y="358"/>
                  </a:lnTo>
                  <a:cubicBezTo>
                    <a:pt x="10442" y="358"/>
                    <a:pt x="10513" y="286"/>
                    <a:pt x="10513" y="179"/>
                  </a:cubicBezTo>
                  <a:cubicBezTo>
                    <a:pt x="10513" y="72"/>
                    <a:pt x="10442" y="1"/>
                    <a:pt x="103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2712;p89">
              <a:extLst>
                <a:ext uri="{FF2B5EF4-FFF2-40B4-BE49-F238E27FC236}">
                  <a16:creationId xmlns:a16="http://schemas.microsoft.com/office/drawing/2014/main" id="{1F785041-36FB-3421-9EA5-0826909A85CC}"/>
                </a:ext>
              </a:extLst>
            </p:cNvPr>
            <p:cNvSpPr/>
            <p:nvPr/>
          </p:nvSpPr>
          <p:spPr>
            <a:xfrm>
              <a:off x="6124743" y="1655296"/>
              <a:ext cx="47427" cy="11395"/>
            </a:xfrm>
            <a:custGeom>
              <a:avLst/>
              <a:gdLst/>
              <a:ahLst/>
              <a:cxnLst/>
              <a:rect l="l" t="t" r="r" b="b"/>
              <a:pathLst>
                <a:path w="1490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8" y="358"/>
                    <a:pt x="1489" y="275"/>
                    <a:pt x="1489" y="179"/>
                  </a:cubicBezTo>
                  <a:cubicBezTo>
                    <a:pt x="1489" y="72"/>
                    <a:pt x="1406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713;p89">
              <a:extLst>
                <a:ext uri="{FF2B5EF4-FFF2-40B4-BE49-F238E27FC236}">
                  <a16:creationId xmlns:a16="http://schemas.microsoft.com/office/drawing/2014/main" id="{D261734E-0843-4781-1DD4-732685EFA437}"/>
                </a:ext>
              </a:extLst>
            </p:cNvPr>
            <p:cNvSpPr/>
            <p:nvPr/>
          </p:nvSpPr>
          <p:spPr>
            <a:xfrm>
              <a:off x="6208520" y="1655296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310" y="358"/>
                  </a:lnTo>
                  <a:cubicBezTo>
                    <a:pt x="1417" y="358"/>
                    <a:pt x="1488" y="275"/>
                    <a:pt x="1488" y="179"/>
                  </a:cubicBezTo>
                  <a:cubicBezTo>
                    <a:pt x="1488" y="72"/>
                    <a:pt x="1405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714;p89">
              <a:extLst>
                <a:ext uri="{FF2B5EF4-FFF2-40B4-BE49-F238E27FC236}">
                  <a16:creationId xmlns:a16="http://schemas.microsoft.com/office/drawing/2014/main" id="{345123BD-B4E7-ADEF-0130-2CDBA66B911D}"/>
                </a:ext>
              </a:extLst>
            </p:cNvPr>
            <p:cNvSpPr/>
            <p:nvPr/>
          </p:nvSpPr>
          <p:spPr>
            <a:xfrm>
              <a:off x="6376391" y="1655296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7" y="358"/>
                    <a:pt x="1489" y="275"/>
                    <a:pt x="1489" y="179"/>
                  </a:cubicBezTo>
                  <a:cubicBezTo>
                    <a:pt x="1489" y="72"/>
                    <a:pt x="1417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715;p89">
              <a:extLst>
                <a:ext uri="{FF2B5EF4-FFF2-40B4-BE49-F238E27FC236}">
                  <a16:creationId xmlns:a16="http://schemas.microsoft.com/office/drawing/2014/main" id="{AC3AD6F4-B807-2AD2-DEFC-E7E9C6E8A7ED}"/>
                </a:ext>
              </a:extLst>
            </p:cNvPr>
            <p:cNvSpPr/>
            <p:nvPr/>
          </p:nvSpPr>
          <p:spPr>
            <a:xfrm>
              <a:off x="6124743" y="1703041"/>
              <a:ext cx="47427" cy="11427"/>
            </a:xfrm>
            <a:custGeom>
              <a:avLst/>
              <a:gdLst/>
              <a:ahLst/>
              <a:cxnLst/>
              <a:rect l="l" t="t" r="r" b="b"/>
              <a:pathLst>
                <a:path w="1490" h="359" extrusionOk="0">
                  <a:moveTo>
                    <a:pt x="179" y="1"/>
                  </a:moveTo>
                  <a:cubicBezTo>
                    <a:pt x="72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8" y="358"/>
                    <a:pt x="1489" y="275"/>
                    <a:pt x="1489" y="180"/>
                  </a:cubicBezTo>
                  <a:cubicBezTo>
                    <a:pt x="1489" y="72"/>
                    <a:pt x="1406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716;p89">
              <a:extLst>
                <a:ext uri="{FF2B5EF4-FFF2-40B4-BE49-F238E27FC236}">
                  <a16:creationId xmlns:a16="http://schemas.microsoft.com/office/drawing/2014/main" id="{6346F3DC-7B06-2624-54A1-653D39023DD6}"/>
                </a:ext>
              </a:extLst>
            </p:cNvPr>
            <p:cNvSpPr/>
            <p:nvPr/>
          </p:nvSpPr>
          <p:spPr>
            <a:xfrm>
              <a:off x="6292646" y="1703041"/>
              <a:ext cx="47395" cy="11427"/>
            </a:xfrm>
            <a:custGeom>
              <a:avLst/>
              <a:gdLst/>
              <a:ahLst/>
              <a:cxnLst/>
              <a:rect l="l" t="t" r="r" b="b"/>
              <a:pathLst>
                <a:path w="1489" h="359" extrusionOk="0">
                  <a:moveTo>
                    <a:pt x="179" y="1"/>
                  </a:moveTo>
                  <a:cubicBezTo>
                    <a:pt x="72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05" y="358"/>
                    <a:pt x="1489" y="275"/>
                    <a:pt x="1489" y="180"/>
                  </a:cubicBezTo>
                  <a:cubicBezTo>
                    <a:pt x="1489" y="72"/>
                    <a:pt x="1405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717;p89">
              <a:extLst>
                <a:ext uri="{FF2B5EF4-FFF2-40B4-BE49-F238E27FC236}">
                  <a16:creationId xmlns:a16="http://schemas.microsoft.com/office/drawing/2014/main" id="{0CCFB644-EB16-8BA3-B128-6C035E3B4D83}"/>
                </a:ext>
              </a:extLst>
            </p:cNvPr>
            <p:cNvSpPr/>
            <p:nvPr/>
          </p:nvSpPr>
          <p:spPr>
            <a:xfrm>
              <a:off x="6124743" y="1750818"/>
              <a:ext cx="47427" cy="11395"/>
            </a:xfrm>
            <a:custGeom>
              <a:avLst/>
              <a:gdLst/>
              <a:ahLst/>
              <a:cxnLst/>
              <a:rect l="l" t="t" r="r" b="b"/>
              <a:pathLst>
                <a:path w="1490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8" y="357"/>
                    <a:pt x="1489" y="286"/>
                    <a:pt x="1489" y="179"/>
                  </a:cubicBezTo>
                  <a:cubicBezTo>
                    <a:pt x="1489" y="72"/>
                    <a:pt x="1406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718;p89">
              <a:extLst>
                <a:ext uri="{FF2B5EF4-FFF2-40B4-BE49-F238E27FC236}">
                  <a16:creationId xmlns:a16="http://schemas.microsoft.com/office/drawing/2014/main" id="{605452A2-CBD6-1C17-F93A-B4F402555AA9}"/>
                </a:ext>
              </a:extLst>
            </p:cNvPr>
            <p:cNvSpPr/>
            <p:nvPr/>
          </p:nvSpPr>
          <p:spPr>
            <a:xfrm>
              <a:off x="6208520" y="1750818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83" y="0"/>
                    <a:pt x="0" y="72"/>
                    <a:pt x="0" y="179"/>
                  </a:cubicBezTo>
                  <a:cubicBezTo>
                    <a:pt x="0" y="286"/>
                    <a:pt x="83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8" y="286"/>
                    <a:pt x="1488" y="179"/>
                  </a:cubicBezTo>
                  <a:cubicBezTo>
                    <a:pt x="1488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719;p89">
              <a:extLst>
                <a:ext uri="{FF2B5EF4-FFF2-40B4-BE49-F238E27FC236}">
                  <a16:creationId xmlns:a16="http://schemas.microsoft.com/office/drawing/2014/main" id="{DFF6014F-384C-1333-072C-B3EEB429D0E6}"/>
                </a:ext>
              </a:extLst>
            </p:cNvPr>
            <p:cNvSpPr/>
            <p:nvPr/>
          </p:nvSpPr>
          <p:spPr>
            <a:xfrm>
              <a:off x="6376391" y="1750818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9" y="286"/>
                    <a:pt x="1489" y="179"/>
                  </a:cubicBezTo>
                  <a:cubicBezTo>
                    <a:pt x="1489" y="72"/>
                    <a:pt x="1417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720;p89">
              <a:extLst>
                <a:ext uri="{FF2B5EF4-FFF2-40B4-BE49-F238E27FC236}">
                  <a16:creationId xmlns:a16="http://schemas.microsoft.com/office/drawing/2014/main" id="{5ACBB3D9-87CB-2DA1-6DD0-DF9D4CD0D5F4}"/>
                </a:ext>
              </a:extLst>
            </p:cNvPr>
            <p:cNvSpPr/>
            <p:nvPr/>
          </p:nvSpPr>
          <p:spPr>
            <a:xfrm>
              <a:off x="6208520" y="1798563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83" y="0"/>
                    <a:pt x="0" y="72"/>
                    <a:pt x="0" y="179"/>
                  </a:cubicBezTo>
                  <a:cubicBezTo>
                    <a:pt x="0" y="286"/>
                    <a:pt x="83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8" y="286"/>
                    <a:pt x="1488" y="179"/>
                  </a:cubicBezTo>
                  <a:cubicBezTo>
                    <a:pt x="1488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721;p89">
              <a:extLst>
                <a:ext uri="{FF2B5EF4-FFF2-40B4-BE49-F238E27FC236}">
                  <a16:creationId xmlns:a16="http://schemas.microsoft.com/office/drawing/2014/main" id="{AE1DA002-62B6-8F62-18AE-7F08AE1FF2FC}"/>
                </a:ext>
              </a:extLst>
            </p:cNvPr>
            <p:cNvSpPr/>
            <p:nvPr/>
          </p:nvSpPr>
          <p:spPr>
            <a:xfrm>
              <a:off x="6292646" y="1798563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cubicBezTo>
                    <a:pt x="0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05" y="357"/>
                    <a:pt x="1489" y="286"/>
                    <a:pt x="1489" y="179"/>
                  </a:cubicBezTo>
                  <a:cubicBezTo>
                    <a:pt x="1489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722;p89">
              <a:extLst>
                <a:ext uri="{FF2B5EF4-FFF2-40B4-BE49-F238E27FC236}">
                  <a16:creationId xmlns:a16="http://schemas.microsoft.com/office/drawing/2014/main" id="{9809CBD7-FEE9-F261-6A92-CF9F5D689282}"/>
                </a:ext>
              </a:extLst>
            </p:cNvPr>
            <p:cNvSpPr/>
            <p:nvPr/>
          </p:nvSpPr>
          <p:spPr>
            <a:xfrm>
              <a:off x="6376391" y="1798563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9" y="286"/>
                    <a:pt x="1489" y="179"/>
                  </a:cubicBezTo>
                  <a:cubicBezTo>
                    <a:pt x="1489" y="72"/>
                    <a:pt x="1417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723;p89">
              <a:extLst>
                <a:ext uri="{FF2B5EF4-FFF2-40B4-BE49-F238E27FC236}">
                  <a16:creationId xmlns:a16="http://schemas.microsoft.com/office/drawing/2014/main" id="{A2BEC3B7-7324-8B6C-92C5-B59BFB4E5811}"/>
                </a:ext>
              </a:extLst>
            </p:cNvPr>
            <p:cNvSpPr/>
            <p:nvPr/>
          </p:nvSpPr>
          <p:spPr>
            <a:xfrm>
              <a:off x="6207756" y="1690723"/>
              <a:ext cx="48923" cy="35108"/>
            </a:xfrm>
            <a:custGeom>
              <a:avLst/>
              <a:gdLst/>
              <a:ahLst/>
              <a:cxnLst/>
              <a:rect l="l" t="t" r="r" b="b"/>
              <a:pathLst>
                <a:path w="1537" h="1103" extrusionOk="0">
                  <a:moveTo>
                    <a:pt x="1328" y="1"/>
                  </a:moveTo>
                  <a:cubicBezTo>
                    <a:pt x="1283" y="1"/>
                    <a:pt x="1239" y="19"/>
                    <a:pt x="1203" y="55"/>
                  </a:cubicBezTo>
                  <a:lnTo>
                    <a:pt x="584" y="686"/>
                  </a:lnTo>
                  <a:lnTo>
                    <a:pt x="322" y="436"/>
                  </a:lnTo>
                  <a:cubicBezTo>
                    <a:pt x="286" y="394"/>
                    <a:pt x="241" y="373"/>
                    <a:pt x="197" y="373"/>
                  </a:cubicBezTo>
                  <a:cubicBezTo>
                    <a:pt x="152" y="373"/>
                    <a:pt x="107" y="394"/>
                    <a:pt x="72" y="436"/>
                  </a:cubicBezTo>
                  <a:cubicBezTo>
                    <a:pt x="0" y="507"/>
                    <a:pt x="0" y="614"/>
                    <a:pt x="72" y="686"/>
                  </a:cubicBezTo>
                  <a:lnTo>
                    <a:pt x="441" y="1055"/>
                  </a:lnTo>
                  <a:cubicBezTo>
                    <a:pt x="477" y="1078"/>
                    <a:pt x="512" y="1102"/>
                    <a:pt x="560" y="1102"/>
                  </a:cubicBezTo>
                  <a:cubicBezTo>
                    <a:pt x="607" y="1102"/>
                    <a:pt x="655" y="1078"/>
                    <a:pt x="679" y="1055"/>
                  </a:cubicBezTo>
                  <a:lnTo>
                    <a:pt x="1441" y="293"/>
                  </a:lnTo>
                  <a:cubicBezTo>
                    <a:pt x="1536" y="233"/>
                    <a:pt x="1536" y="138"/>
                    <a:pt x="1453" y="55"/>
                  </a:cubicBezTo>
                  <a:cubicBezTo>
                    <a:pt x="1417" y="19"/>
                    <a:pt x="1372" y="1"/>
                    <a:pt x="132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724;p89">
              <a:extLst>
                <a:ext uri="{FF2B5EF4-FFF2-40B4-BE49-F238E27FC236}">
                  <a16:creationId xmlns:a16="http://schemas.microsoft.com/office/drawing/2014/main" id="{32A93AE1-4559-1066-CF12-CF6D063599BD}"/>
                </a:ext>
              </a:extLst>
            </p:cNvPr>
            <p:cNvSpPr/>
            <p:nvPr/>
          </p:nvSpPr>
          <p:spPr>
            <a:xfrm>
              <a:off x="6376009" y="1690723"/>
              <a:ext cx="48159" cy="35108"/>
            </a:xfrm>
            <a:custGeom>
              <a:avLst/>
              <a:gdLst/>
              <a:ahLst/>
              <a:cxnLst/>
              <a:rect l="l" t="t" r="r" b="b"/>
              <a:pathLst>
                <a:path w="1513" h="1103" extrusionOk="0">
                  <a:moveTo>
                    <a:pt x="1328" y="1"/>
                  </a:moveTo>
                  <a:cubicBezTo>
                    <a:pt x="1284" y="1"/>
                    <a:pt x="1239" y="19"/>
                    <a:pt x="1203" y="55"/>
                  </a:cubicBezTo>
                  <a:lnTo>
                    <a:pt x="572" y="686"/>
                  </a:lnTo>
                  <a:lnTo>
                    <a:pt x="322" y="436"/>
                  </a:lnTo>
                  <a:cubicBezTo>
                    <a:pt x="286" y="394"/>
                    <a:pt x="242" y="373"/>
                    <a:pt x="197" y="373"/>
                  </a:cubicBezTo>
                  <a:cubicBezTo>
                    <a:pt x="152" y="373"/>
                    <a:pt x="108" y="394"/>
                    <a:pt x="72" y="436"/>
                  </a:cubicBezTo>
                  <a:cubicBezTo>
                    <a:pt x="1" y="507"/>
                    <a:pt x="1" y="614"/>
                    <a:pt x="72" y="686"/>
                  </a:cubicBezTo>
                  <a:lnTo>
                    <a:pt x="441" y="1055"/>
                  </a:lnTo>
                  <a:cubicBezTo>
                    <a:pt x="477" y="1078"/>
                    <a:pt x="513" y="1102"/>
                    <a:pt x="560" y="1102"/>
                  </a:cubicBezTo>
                  <a:cubicBezTo>
                    <a:pt x="608" y="1102"/>
                    <a:pt x="644" y="1078"/>
                    <a:pt x="679" y="1055"/>
                  </a:cubicBezTo>
                  <a:lnTo>
                    <a:pt x="1441" y="293"/>
                  </a:lnTo>
                  <a:cubicBezTo>
                    <a:pt x="1513" y="233"/>
                    <a:pt x="1513" y="138"/>
                    <a:pt x="1453" y="55"/>
                  </a:cubicBezTo>
                  <a:cubicBezTo>
                    <a:pt x="1417" y="19"/>
                    <a:pt x="1373" y="1"/>
                    <a:pt x="132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725;p89">
              <a:extLst>
                <a:ext uri="{FF2B5EF4-FFF2-40B4-BE49-F238E27FC236}">
                  <a16:creationId xmlns:a16="http://schemas.microsoft.com/office/drawing/2014/main" id="{A7417704-4584-A46F-D31B-DC1F96B15F59}"/>
                </a:ext>
              </a:extLst>
            </p:cNvPr>
            <p:cNvSpPr/>
            <p:nvPr/>
          </p:nvSpPr>
          <p:spPr>
            <a:xfrm>
              <a:off x="6291500" y="1738595"/>
              <a:ext cx="48923" cy="34981"/>
            </a:xfrm>
            <a:custGeom>
              <a:avLst/>
              <a:gdLst/>
              <a:ahLst/>
              <a:cxnLst/>
              <a:rect l="l" t="t" r="r" b="b"/>
              <a:pathLst>
                <a:path w="1537" h="1099" extrusionOk="0">
                  <a:moveTo>
                    <a:pt x="1334" y="0"/>
                  </a:moveTo>
                  <a:cubicBezTo>
                    <a:pt x="1289" y="0"/>
                    <a:pt x="1245" y="21"/>
                    <a:pt x="1203" y="63"/>
                  </a:cubicBezTo>
                  <a:lnTo>
                    <a:pt x="584" y="682"/>
                  </a:lnTo>
                  <a:lnTo>
                    <a:pt x="322" y="432"/>
                  </a:lnTo>
                  <a:cubicBezTo>
                    <a:pt x="286" y="396"/>
                    <a:pt x="242" y="378"/>
                    <a:pt x="197" y="378"/>
                  </a:cubicBezTo>
                  <a:cubicBezTo>
                    <a:pt x="152" y="378"/>
                    <a:pt x="108" y="396"/>
                    <a:pt x="72" y="432"/>
                  </a:cubicBezTo>
                  <a:cubicBezTo>
                    <a:pt x="1" y="503"/>
                    <a:pt x="1" y="610"/>
                    <a:pt x="72" y="682"/>
                  </a:cubicBezTo>
                  <a:lnTo>
                    <a:pt x="441" y="1051"/>
                  </a:lnTo>
                  <a:cubicBezTo>
                    <a:pt x="477" y="1087"/>
                    <a:pt x="524" y="1098"/>
                    <a:pt x="560" y="1098"/>
                  </a:cubicBezTo>
                  <a:cubicBezTo>
                    <a:pt x="608" y="1098"/>
                    <a:pt x="655" y="1087"/>
                    <a:pt x="679" y="1051"/>
                  </a:cubicBezTo>
                  <a:lnTo>
                    <a:pt x="1441" y="301"/>
                  </a:lnTo>
                  <a:cubicBezTo>
                    <a:pt x="1536" y="241"/>
                    <a:pt x="1536" y="134"/>
                    <a:pt x="1465" y="63"/>
                  </a:cubicBezTo>
                  <a:cubicBezTo>
                    <a:pt x="1423" y="21"/>
                    <a:pt x="1379" y="0"/>
                    <a:pt x="1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726;p89">
              <a:extLst>
                <a:ext uri="{FF2B5EF4-FFF2-40B4-BE49-F238E27FC236}">
                  <a16:creationId xmlns:a16="http://schemas.microsoft.com/office/drawing/2014/main" id="{EA75E4AD-6551-6ECA-E38E-1CBEA5132C3C}"/>
                </a:ext>
              </a:extLst>
            </p:cNvPr>
            <p:cNvSpPr/>
            <p:nvPr/>
          </p:nvSpPr>
          <p:spPr>
            <a:xfrm>
              <a:off x="6123629" y="1786627"/>
              <a:ext cx="48891" cy="34695"/>
            </a:xfrm>
            <a:custGeom>
              <a:avLst/>
              <a:gdLst/>
              <a:ahLst/>
              <a:cxnLst/>
              <a:rect l="l" t="t" r="r" b="b"/>
              <a:pathLst>
                <a:path w="1536" h="1090" extrusionOk="0">
                  <a:moveTo>
                    <a:pt x="1340" y="0"/>
                  </a:moveTo>
                  <a:cubicBezTo>
                    <a:pt x="1295" y="0"/>
                    <a:pt x="1250" y="18"/>
                    <a:pt x="1215" y="54"/>
                  </a:cubicBezTo>
                  <a:lnTo>
                    <a:pt x="583" y="673"/>
                  </a:lnTo>
                  <a:lnTo>
                    <a:pt x="333" y="423"/>
                  </a:lnTo>
                  <a:cubicBezTo>
                    <a:pt x="298" y="387"/>
                    <a:pt x="253" y="369"/>
                    <a:pt x="208" y="369"/>
                  </a:cubicBezTo>
                  <a:cubicBezTo>
                    <a:pt x="164" y="369"/>
                    <a:pt x="119" y="387"/>
                    <a:pt x="83" y="423"/>
                  </a:cubicBezTo>
                  <a:cubicBezTo>
                    <a:pt x="0" y="494"/>
                    <a:pt x="0" y="601"/>
                    <a:pt x="83" y="673"/>
                  </a:cubicBezTo>
                  <a:lnTo>
                    <a:pt x="453" y="1042"/>
                  </a:lnTo>
                  <a:cubicBezTo>
                    <a:pt x="476" y="1078"/>
                    <a:pt x="524" y="1090"/>
                    <a:pt x="572" y="1090"/>
                  </a:cubicBezTo>
                  <a:cubicBezTo>
                    <a:pt x="619" y="1090"/>
                    <a:pt x="655" y="1078"/>
                    <a:pt x="691" y="1042"/>
                  </a:cubicBezTo>
                  <a:lnTo>
                    <a:pt x="1453" y="292"/>
                  </a:lnTo>
                  <a:cubicBezTo>
                    <a:pt x="1536" y="232"/>
                    <a:pt x="1536" y="125"/>
                    <a:pt x="1465" y="54"/>
                  </a:cubicBezTo>
                  <a:cubicBezTo>
                    <a:pt x="1429" y="18"/>
                    <a:pt x="1384" y="0"/>
                    <a:pt x="134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727;p89">
              <a:extLst>
                <a:ext uri="{FF2B5EF4-FFF2-40B4-BE49-F238E27FC236}">
                  <a16:creationId xmlns:a16="http://schemas.microsoft.com/office/drawing/2014/main" id="{C559DA19-CBD5-135B-3377-8E10B5654AD7}"/>
                </a:ext>
              </a:extLst>
            </p:cNvPr>
            <p:cNvSpPr/>
            <p:nvPr/>
          </p:nvSpPr>
          <p:spPr>
            <a:xfrm>
              <a:off x="6291500" y="1642978"/>
              <a:ext cx="48923" cy="34727"/>
            </a:xfrm>
            <a:custGeom>
              <a:avLst/>
              <a:gdLst/>
              <a:ahLst/>
              <a:cxnLst/>
              <a:rect l="l" t="t" r="r" b="b"/>
              <a:pathLst>
                <a:path w="1537" h="1091" extrusionOk="0">
                  <a:moveTo>
                    <a:pt x="1334" y="1"/>
                  </a:moveTo>
                  <a:cubicBezTo>
                    <a:pt x="1289" y="1"/>
                    <a:pt x="1245" y="19"/>
                    <a:pt x="1203" y="54"/>
                  </a:cubicBezTo>
                  <a:lnTo>
                    <a:pt x="584" y="673"/>
                  </a:lnTo>
                  <a:lnTo>
                    <a:pt x="322" y="423"/>
                  </a:lnTo>
                  <a:cubicBezTo>
                    <a:pt x="286" y="388"/>
                    <a:pt x="242" y="370"/>
                    <a:pt x="197" y="370"/>
                  </a:cubicBezTo>
                  <a:cubicBezTo>
                    <a:pt x="152" y="370"/>
                    <a:pt x="108" y="388"/>
                    <a:pt x="72" y="423"/>
                  </a:cubicBezTo>
                  <a:cubicBezTo>
                    <a:pt x="1" y="495"/>
                    <a:pt x="1" y="602"/>
                    <a:pt x="72" y="673"/>
                  </a:cubicBezTo>
                  <a:lnTo>
                    <a:pt x="441" y="1054"/>
                  </a:lnTo>
                  <a:cubicBezTo>
                    <a:pt x="477" y="1078"/>
                    <a:pt x="524" y="1090"/>
                    <a:pt x="560" y="1090"/>
                  </a:cubicBezTo>
                  <a:cubicBezTo>
                    <a:pt x="608" y="1090"/>
                    <a:pt x="655" y="1078"/>
                    <a:pt x="679" y="1054"/>
                  </a:cubicBezTo>
                  <a:lnTo>
                    <a:pt x="1441" y="292"/>
                  </a:lnTo>
                  <a:cubicBezTo>
                    <a:pt x="1536" y="233"/>
                    <a:pt x="1536" y="114"/>
                    <a:pt x="1465" y="54"/>
                  </a:cubicBezTo>
                  <a:cubicBezTo>
                    <a:pt x="1423" y="19"/>
                    <a:pt x="1379" y="1"/>
                    <a:pt x="13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537198"/>
      </p:ext>
    </p:extLst>
  </p:cSld>
  <p:clrMapOvr>
    <a:masterClrMapping/>
  </p:clrMapOvr>
  <p:transition spd="med">
    <p:pull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284854" y="-29202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Dataset description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421A2FD7-EB8B-1148-B595-B7723EA5A056}"/>
              </a:ext>
            </a:extLst>
          </p:cNvPr>
          <p:cNvSpPr txBox="1"/>
          <p:nvPr/>
        </p:nvSpPr>
        <p:spPr>
          <a:xfrm>
            <a:off x="0" y="874576"/>
            <a:ext cx="9144000" cy="3782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Total combined dataset size: </a:t>
            </a:r>
            <a:r>
              <a:rPr lang="en-US" b="1" dirty="0"/>
              <a:t>2.7 Million+ sensor records</a:t>
            </a:r>
            <a:r>
              <a:rPr lang="en-US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Data collected from: </a:t>
            </a:r>
            <a:r>
              <a:rPr lang="en-US" b="1" dirty="0"/>
              <a:t>9 protocol subjects</a:t>
            </a:r>
            <a:r>
              <a:rPr lang="en-US" dirty="0"/>
              <a:t> and </a:t>
            </a:r>
            <a:r>
              <a:rPr lang="en-US" b="1" dirty="0"/>
              <a:t>5 optional subjects</a:t>
            </a:r>
            <a:r>
              <a:rPr lang="en-US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Total attributes after preprocessing: </a:t>
            </a:r>
            <a:r>
              <a:rPr lang="en-US" b="1" dirty="0"/>
              <a:t>36 </a:t>
            </a:r>
            <a:endParaRPr lang="en-US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Sampling frequency:</a:t>
            </a:r>
            <a:r>
              <a:rPr lang="en-US" b="1" dirty="0"/>
              <a:t>100 Hz (100 readings/second)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Sensors used: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	Accelerometer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	Gyroscope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	Magnetometer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Sensor locations: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	Hand IMU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	Chest IMU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	Ankle IMU</a:t>
            </a:r>
          </a:p>
          <a:p>
            <a: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29831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284854" y="-29202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Dataset description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D1650B-A46D-42C0-B506-661727A3BC2B}"/>
              </a:ext>
            </a:extLst>
          </p:cNvPr>
          <p:cNvSpPr txBox="1"/>
          <p:nvPr/>
        </p:nvSpPr>
        <p:spPr>
          <a:xfrm>
            <a:off x="0" y="864828"/>
            <a:ext cx="4792133" cy="4613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Categories</a:t>
            </a:r>
          </a:p>
          <a:p>
            <a:r>
              <a:rPr lang="en-US" b="1" dirty="0"/>
              <a:t>Numerical Attributes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Accelerometer readings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Gyroscope readings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Magnetometer readings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Heart rate values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Timestamp values </a:t>
            </a:r>
          </a:p>
          <a:p>
            <a:endParaRPr lang="en-US" dirty="0"/>
          </a:p>
          <a:p>
            <a:r>
              <a:rPr lang="en-US" b="1" dirty="0"/>
              <a:t>Categorical Attributes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Activity ID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Activity Name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Subject ID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Data Source (Protocol / Optional) </a:t>
            </a:r>
          </a:p>
          <a:p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FE4C04-7536-29A4-F0FF-FCB7BA74F506}"/>
              </a:ext>
            </a:extLst>
          </p:cNvPr>
          <p:cNvSpPr txBox="1"/>
          <p:nvPr/>
        </p:nvSpPr>
        <p:spPr>
          <a:xfrm>
            <a:off x="4467405" y="951156"/>
            <a:ext cx="448231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Activities are grouped into: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Static Activities</a:t>
            </a:r>
            <a:br>
              <a:rPr lang="en-US" dirty="0"/>
            </a:br>
            <a:r>
              <a:rPr lang="en-US" i="1" dirty="0"/>
              <a:t>(lying, sitting, standing)</a:t>
            </a:r>
            <a:r>
              <a:rPr lang="en-US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Dynamic Activities</a:t>
            </a:r>
            <a:br>
              <a:rPr lang="en-US" dirty="0"/>
            </a:br>
            <a:r>
              <a:rPr lang="en-US" i="1" dirty="0"/>
              <a:t>(walking, running, cycling, stairs)</a:t>
            </a:r>
            <a:r>
              <a:rPr lang="en-US" dirty="0"/>
              <a:t>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Household Activities</a:t>
            </a:r>
            <a:br>
              <a:rPr lang="en-US" dirty="0"/>
            </a:br>
            <a:r>
              <a:rPr lang="en-US" i="1" dirty="0"/>
              <a:t>(ironing, vacuum cleaning, folding laundry)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110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7"/>
          <p:cNvSpPr txBox="1">
            <a:spLocks noGrp="1"/>
          </p:cNvSpPr>
          <p:nvPr>
            <p:ph type="title"/>
          </p:nvPr>
        </p:nvSpPr>
        <p:spPr>
          <a:xfrm>
            <a:off x="284853" y="-102946"/>
            <a:ext cx="7704000" cy="6692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br>
              <a:rPr lang="en-US" sz="2800" dirty="0">
                <a:latin typeface="Garamond" panose="02020404030301010803" pitchFamily="18" charset="0"/>
              </a:rPr>
            </a:br>
            <a:r>
              <a:rPr lang="en-US" sz="2800" dirty="0">
                <a:latin typeface="Garamond" panose="02020404030301010803" pitchFamily="18" charset="0"/>
              </a:rPr>
              <a:t>   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B28F86C2-780F-F8E0-D00C-1AC9779A4719}"/>
              </a:ext>
            </a:extLst>
          </p:cNvPr>
          <p:cNvSpPr txBox="1"/>
          <p:nvPr/>
        </p:nvSpPr>
        <p:spPr>
          <a:xfrm>
            <a:off x="298604" y="346249"/>
            <a:ext cx="4445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Aharoni" panose="020F0502020204030204" pitchFamily="2" charset="-79"/>
                <a:cs typeface="Aharoni" panose="020F0502020204030204" pitchFamily="2" charset="-79"/>
              </a:rPr>
              <a:t>Sample data 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2B24FA5-1B93-6BFE-84E0-2E4AF5E1C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01" y="982330"/>
            <a:ext cx="8077200" cy="407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776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D1650B-A46D-42C0-B506-661727A3BC2B}"/>
              </a:ext>
            </a:extLst>
          </p:cNvPr>
          <p:cNvSpPr txBox="1"/>
          <p:nvPr/>
        </p:nvSpPr>
        <p:spPr>
          <a:xfrm>
            <a:off x="323943" y="894587"/>
            <a:ext cx="7894320" cy="498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</a:p>
        </p:txBody>
      </p:sp>
      <p:sp>
        <p:nvSpPr>
          <p:cNvPr id="5" name="Google Shape;326;p37">
            <a:extLst>
              <a:ext uri="{FF2B5EF4-FFF2-40B4-BE49-F238E27FC236}">
                <a16:creationId xmlns:a16="http://schemas.microsoft.com/office/drawing/2014/main" id="{D338B4CA-C546-4B46-BF0F-B60348E9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4854" y="-29202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Data Pre-processing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A57C5A-358A-816F-0A0C-189C9CE04891}"/>
              </a:ext>
            </a:extLst>
          </p:cNvPr>
          <p:cNvSpPr txBox="1"/>
          <p:nvPr/>
        </p:nvSpPr>
        <p:spPr>
          <a:xfrm>
            <a:off x="663494" y="1405073"/>
            <a:ext cx="732536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is a method which involves various techniques to transform raw data into a clean, structured, and usable format. The main goal is to improve the quality of the data and to make it suitable for analysis.</a:t>
            </a:r>
          </a:p>
          <a:p>
            <a:endParaRPr lang="en-IN" dirty="0"/>
          </a:p>
        </p:txBody>
      </p:sp>
      <p:grpSp>
        <p:nvGrpSpPr>
          <p:cNvPr id="10" name="Google Shape;8228;p81">
            <a:extLst>
              <a:ext uri="{FF2B5EF4-FFF2-40B4-BE49-F238E27FC236}">
                <a16:creationId xmlns:a16="http://schemas.microsoft.com/office/drawing/2014/main" id="{2546A98E-B795-FDB7-2D97-411DF109E07D}"/>
              </a:ext>
            </a:extLst>
          </p:cNvPr>
          <p:cNvGrpSpPr/>
          <p:nvPr/>
        </p:nvGrpSpPr>
        <p:grpSpPr>
          <a:xfrm>
            <a:off x="6508728" y="2702377"/>
            <a:ext cx="1742369" cy="1971197"/>
            <a:chOff x="4206459" y="1191441"/>
            <a:chExt cx="712557" cy="785901"/>
          </a:xfrm>
        </p:grpSpPr>
        <p:sp>
          <p:nvSpPr>
            <p:cNvPr id="11" name="Google Shape;8229;p81">
              <a:extLst>
                <a:ext uri="{FF2B5EF4-FFF2-40B4-BE49-F238E27FC236}">
                  <a16:creationId xmlns:a16="http://schemas.microsoft.com/office/drawing/2014/main" id="{6C633CFC-C43B-C2AF-4F6A-E331761205C5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8230;p81">
              <a:extLst>
                <a:ext uri="{FF2B5EF4-FFF2-40B4-BE49-F238E27FC236}">
                  <a16:creationId xmlns:a16="http://schemas.microsoft.com/office/drawing/2014/main" id="{5735146D-A7A3-0EB4-B65D-360363640208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8231;p81">
              <a:extLst>
                <a:ext uri="{FF2B5EF4-FFF2-40B4-BE49-F238E27FC236}">
                  <a16:creationId xmlns:a16="http://schemas.microsoft.com/office/drawing/2014/main" id="{206E1D9C-6111-FBF7-2FF3-11B6EA43A486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8232;p81">
              <a:extLst>
                <a:ext uri="{FF2B5EF4-FFF2-40B4-BE49-F238E27FC236}">
                  <a16:creationId xmlns:a16="http://schemas.microsoft.com/office/drawing/2014/main" id="{959DCA96-8A76-ABE7-70B2-E3B15CE7CF79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" name="Google Shape;8233;p81">
              <a:extLst>
                <a:ext uri="{FF2B5EF4-FFF2-40B4-BE49-F238E27FC236}">
                  <a16:creationId xmlns:a16="http://schemas.microsoft.com/office/drawing/2014/main" id="{8F2425C5-4729-833B-B9D5-EC9023ED26C9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45" name="Google Shape;8234;p81">
                <a:extLst>
                  <a:ext uri="{FF2B5EF4-FFF2-40B4-BE49-F238E27FC236}">
                    <a16:creationId xmlns:a16="http://schemas.microsoft.com/office/drawing/2014/main" id="{22C6E90D-F1CB-310D-E38D-ABC384BB18C0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8235;p81">
                <a:extLst>
                  <a:ext uri="{FF2B5EF4-FFF2-40B4-BE49-F238E27FC236}">
                    <a16:creationId xmlns:a16="http://schemas.microsoft.com/office/drawing/2014/main" id="{19E56B32-C984-87B4-89F8-AACB6DFCBEEA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8236;p81">
                <a:extLst>
                  <a:ext uri="{FF2B5EF4-FFF2-40B4-BE49-F238E27FC236}">
                    <a16:creationId xmlns:a16="http://schemas.microsoft.com/office/drawing/2014/main" id="{3698184E-2EB7-AA8B-A2FD-A5BCBB4C4A87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8237;p81">
                <a:extLst>
                  <a:ext uri="{FF2B5EF4-FFF2-40B4-BE49-F238E27FC236}">
                    <a16:creationId xmlns:a16="http://schemas.microsoft.com/office/drawing/2014/main" id="{8D27F2C8-13D2-1793-32EF-4EAA2A9926BB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" name="Google Shape;8238;p81">
              <a:extLst>
                <a:ext uri="{FF2B5EF4-FFF2-40B4-BE49-F238E27FC236}">
                  <a16:creationId xmlns:a16="http://schemas.microsoft.com/office/drawing/2014/main" id="{09880495-2F52-72FE-8F5C-258D71E06C91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41" name="Google Shape;8239;p81">
                <a:extLst>
                  <a:ext uri="{FF2B5EF4-FFF2-40B4-BE49-F238E27FC236}">
                    <a16:creationId xmlns:a16="http://schemas.microsoft.com/office/drawing/2014/main" id="{E37A3D24-936E-886C-02DB-D8243CBED701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8240;p81">
                <a:extLst>
                  <a:ext uri="{FF2B5EF4-FFF2-40B4-BE49-F238E27FC236}">
                    <a16:creationId xmlns:a16="http://schemas.microsoft.com/office/drawing/2014/main" id="{010FB4FF-24BE-28F9-2A5C-03B8216C2323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8241;p81">
                <a:extLst>
                  <a:ext uri="{FF2B5EF4-FFF2-40B4-BE49-F238E27FC236}">
                    <a16:creationId xmlns:a16="http://schemas.microsoft.com/office/drawing/2014/main" id="{C1B86EC5-795D-5FF2-E3F6-34AE549E4994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8242;p81">
                <a:extLst>
                  <a:ext uri="{FF2B5EF4-FFF2-40B4-BE49-F238E27FC236}">
                    <a16:creationId xmlns:a16="http://schemas.microsoft.com/office/drawing/2014/main" id="{CF2F50D5-E116-FA29-7BD7-E86008DE744F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" name="Google Shape;8243;p81">
              <a:extLst>
                <a:ext uri="{FF2B5EF4-FFF2-40B4-BE49-F238E27FC236}">
                  <a16:creationId xmlns:a16="http://schemas.microsoft.com/office/drawing/2014/main" id="{F04ACE2E-659D-7EE4-FBFF-B5C972CC6699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37" name="Google Shape;8244;p81">
                <a:extLst>
                  <a:ext uri="{FF2B5EF4-FFF2-40B4-BE49-F238E27FC236}">
                    <a16:creationId xmlns:a16="http://schemas.microsoft.com/office/drawing/2014/main" id="{D2255217-8CDA-75C2-487C-A4260583FFF0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8245;p81">
                <a:extLst>
                  <a:ext uri="{FF2B5EF4-FFF2-40B4-BE49-F238E27FC236}">
                    <a16:creationId xmlns:a16="http://schemas.microsoft.com/office/drawing/2014/main" id="{13CC3B71-2F82-0667-408C-4109AE35F272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8246;p81">
                <a:extLst>
                  <a:ext uri="{FF2B5EF4-FFF2-40B4-BE49-F238E27FC236}">
                    <a16:creationId xmlns:a16="http://schemas.microsoft.com/office/drawing/2014/main" id="{82A3EBF5-E7B9-0ADD-DC65-CC9FF5F33338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8247;p81">
                <a:extLst>
                  <a:ext uri="{FF2B5EF4-FFF2-40B4-BE49-F238E27FC236}">
                    <a16:creationId xmlns:a16="http://schemas.microsoft.com/office/drawing/2014/main" id="{70E86BDB-8D34-5326-1784-6EA4D86F2E66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8" name="Google Shape;8248;p81">
              <a:extLst>
                <a:ext uri="{FF2B5EF4-FFF2-40B4-BE49-F238E27FC236}">
                  <a16:creationId xmlns:a16="http://schemas.microsoft.com/office/drawing/2014/main" id="{C627B44A-4BAE-F9F7-27E6-107B95028FA1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33" name="Google Shape;8249;p81">
                <a:extLst>
                  <a:ext uri="{FF2B5EF4-FFF2-40B4-BE49-F238E27FC236}">
                    <a16:creationId xmlns:a16="http://schemas.microsoft.com/office/drawing/2014/main" id="{15479A40-C25A-2D07-5E7A-ED22F996FDB2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8250;p81">
                <a:extLst>
                  <a:ext uri="{FF2B5EF4-FFF2-40B4-BE49-F238E27FC236}">
                    <a16:creationId xmlns:a16="http://schemas.microsoft.com/office/drawing/2014/main" id="{58BBA1BE-1CC1-5F7C-52AF-69AE53CAA311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8251;p81">
                <a:extLst>
                  <a:ext uri="{FF2B5EF4-FFF2-40B4-BE49-F238E27FC236}">
                    <a16:creationId xmlns:a16="http://schemas.microsoft.com/office/drawing/2014/main" id="{C2B92BA9-2778-0EF2-8936-3AA7CAFB1B9C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8252;p81">
                <a:extLst>
                  <a:ext uri="{FF2B5EF4-FFF2-40B4-BE49-F238E27FC236}">
                    <a16:creationId xmlns:a16="http://schemas.microsoft.com/office/drawing/2014/main" id="{CB24E56F-37C1-AE88-E007-09A67691C996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9" name="Google Shape;8253;p81">
              <a:extLst>
                <a:ext uri="{FF2B5EF4-FFF2-40B4-BE49-F238E27FC236}">
                  <a16:creationId xmlns:a16="http://schemas.microsoft.com/office/drawing/2014/main" id="{983DED6B-A87C-B5DE-69FA-9EB9B4E35EB9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8254;p81">
              <a:extLst>
                <a:ext uri="{FF2B5EF4-FFF2-40B4-BE49-F238E27FC236}">
                  <a16:creationId xmlns:a16="http://schemas.microsoft.com/office/drawing/2014/main" id="{DD7880C0-9C9F-0C6A-3491-34979B970DC0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8255;p81">
              <a:extLst>
                <a:ext uri="{FF2B5EF4-FFF2-40B4-BE49-F238E27FC236}">
                  <a16:creationId xmlns:a16="http://schemas.microsoft.com/office/drawing/2014/main" id="{EFFCDC25-A76B-77EE-092D-D7AC8DA4E977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8256;p81">
              <a:extLst>
                <a:ext uri="{FF2B5EF4-FFF2-40B4-BE49-F238E27FC236}">
                  <a16:creationId xmlns:a16="http://schemas.microsoft.com/office/drawing/2014/main" id="{DA16BDFE-3FCB-0244-43A4-F0B86B512488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8257;p81">
              <a:extLst>
                <a:ext uri="{FF2B5EF4-FFF2-40B4-BE49-F238E27FC236}">
                  <a16:creationId xmlns:a16="http://schemas.microsoft.com/office/drawing/2014/main" id="{21409D82-A05A-DDF3-0FFD-BA5198FC979B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29" name="Google Shape;8258;p81">
                <a:extLst>
                  <a:ext uri="{FF2B5EF4-FFF2-40B4-BE49-F238E27FC236}">
                    <a16:creationId xmlns:a16="http://schemas.microsoft.com/office/drawing/2014/main" id="{B6D667AE-10EA-69C7-5969-7D408B72BAA1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8259;p81">
                <a:extLst>
                  <a:ext uri="{FF2B5EF4-FFF2-40B4-BE49-F238E27FC236}">
                    <a16:creationId xmlns:a16="http://schemas.microsoft.com/office/drawing/2014/main" id="{9430657D-E037-5C53-03B7-096FB3E615D1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260;p81">
                <a:extLst>
                  <a:ext uri="{FF2B5EF4-FFF2-40B4-BE49-F238E27FC236}">
                    <a16:creationId xmlns:a16="http://schemas.microsoft.com/office/drawing/2014/main" id="{AE1A377E-5F9D-99F5-7819-F933A7E5315F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8261;p81">
                <a:extLst>
                  <a:ext uri="{FF2B5EF4-FFF2-40B4-BE49-F238E27FC236}">
                    <a16:creationId xmlns:a16="http://schemas.microsoft.com/office/drawing/2014/main" id="{ED35E1B3-E64F-E74B-07A9-E62CE532C66C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" name="Google Shape;8262;p81">
              <a:extLst>
                <a:ext uri="{FF2B5EF4-FFF2-40B4-BE49-F238E27FC236}">
                  <a16:creationId xmlns:a16="http://schemas.microsoft.com/office/drawing/2014/main" id="{100C06C4-34DA-55D2-1DA1-084ADE3921ED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25" name="Google Shape;8263;p81">
                <a:extLst>
                  <a:ext uri="{FF2B5EF4-FFF2-40B4-BE49-F238E27FC236}">
                    <a16:creationId xmlns:a16="http://schemas.microsoft.com/office/drawing/2014/main" id="{C631643E-1A07-A411-3794-272E08346C9A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8264;p81">
                <a:extLst>
                  <a:ext uri="{FF2B5EF4-FFF2-40B4-BE49-F238E27FC236}">
                    <a16:creationId xmlns:a16="http://schemas.microsoft.com/office/drawing/2014/main" id="{B71C52A5-766F-FA5E-D286-1E18E6BEA96E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8265;p81">
                <a:extLst>
                  <a:ext uri="{FF2B5EF4-FFF2-40B4-BE49-F238E27FC236}">
                    <a16:creationId xmlns:a16="http://schemas.microsoft.com/office/drawing/2014/main" id="{40FD3B2B-34D0-1DD5-42DE-6049BA5D7966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8266;p81">
                <a:extLst>
                  <a:ext uri="{FF2B5EF4-FFF2-40B4-BE49-F238E27FC236}">
                    <a16:creationId xmlns:a16="http://schemas.microsoft.com/office/drawing/2014/main" id="{FFFA3007-967F-49E1-74AC-664A2A0F5D3A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B7898377-CB77-7F77-4F9F-D190562070F4}"/>
              </a:ext>
            </a:extLst>
          </p:cNvPr>
          <p:cNvSpPr txBox="1"/>
          <p:nvPr/>
        </p:nvSpPr>
        <p:spPr>
          <a:xfrm>
            <a:off x="645163" y="2398396"/>
            <a:ext cx="567690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Methods used in our project: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CFE754-DF0D-F728-7ECD-3F9AF18894D3}"/>
              </a:ext>
            </a:extLst>
          </p:cNvPr>
          <p:cNvSpPr txBox="1"/>
          <p:nvPr/>
        </p:nvSpPr>
        <p:spPr>
          <a:xfrm>
            <a:off x="892903" y="2949312"/>
            <a:ext cx="7325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CLEANING: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Handling Missing Values               </a:t>
            </a:r>
          </a:p>
          <a:p>
            <a:pPr marL="0" indent="0">
              <a:buNone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 Error correction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REDUCTION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-Dropping of columns</a:t>
            </a:r>
          </a:p>
        </p:txBody>
      </p:sp>
      <p:pic>
        <p:nvPicPr>
          <p:cNvPr id="49" name="Picture 4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1402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Google Shape;326;p37">
            <a:extLst>
              <a:ext uri="{FF2B5EF4-FFF2-40B4-BE49-F238E27FC236}">
                <a16:creationId xmlns:a16="http://schemas.microsoft.com/office/drawing/2014/main" id="{D338B4CA-C546-4B46-BF0F-B60348E9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3943" y="0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Garamond" panose="02020404030301010803" pitchFamily="18" charset="0"/>
              </a:rPr>
              <a:t>Data Pre-processing </a:t>
            </a:r>
          </a:p>
        </p:txBody>
      </p:sp>
      <p:sp>
        <p:nvSpPr>
          <p:cNvPr id="92" name="Google Shape;1066;p67">
            <a:extLst>
              <a:ext uri="{FF2B5EF4-FFF2-40B4-BE49-F238E27FC236}">
                <a16:creationId xmlns:a16="http://schemas.microsoft.com/office/drawing/2014/main" id="{BDDB611F-DC06-2B00-DFEF-BDAE1B459891}"/>
              </a:ext>
            </a:extLst>
          </p:cNvPr>
          <p:cNvSpPr/>
          <p:nvPr/>
        </p:nvSpPr>
        <p:spPr>
          <a:xfrm>
            <a:off x="6421136" y="1687034"/>
            <a:ext cx="2419705" cy="244508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73" name="Google Shape;12709;p89">
            <a:extLst>
              <a:ext uri="{FF2B5EF4-FFF2-40B4-BE49-F238E27FC236}">
                <a16:creationId xmlns:a16="http://schemas.microsoft.com/office/drawing/2014/main" id="{736FE3AB-854B-2A21-497D-8528AD4103EB}"/>
              </a:ext>
            </a:extLst>
          </p:cNvPr>
          <p:cNvGrpSpPr/>
          <p:nvPr/>
        </p:nvGrpSpPr>
        <p:grpSpPr>
          <a:xfrm>
            <a:off x="6947522" y="2284928"/>
            <a:ext cx="1371999" cy="1159027"/>
            <a:chOff x="6083810" y="1547297"/>
            <a:chExt cx="382819" cy="310788"/>
          </a:xfrm>
        </p:grpSpPr>
        <p:sp>
          <p:nvSpPr>
            <p:cNvPr id="74" name="Google Shape;12710;p89">
              <a:extLst>
                <a:ext uri="{FF2B5EF4-FFF2-40B4-BE49-F238E27FC236}">
                  <a16:creationId xmlns:a16="http://schemas.microsoft.com/office/drawing/2014/main" id="{2E432E29-E6D6-EB9C-FCA3-DFCE6D3C725F}"/>
                </a:ext>
              </a:extLst>
            </p:cNvPr>
            <p:cNvSpPr/>
            <p:nvPr/>
          </p:nvSpPr>
          <p:spPr>
            <a:xfrm>
              <a:off x="6083810" y="1547297"/>
              <a:ext cx="382819" cy="310788"/>
            </a:xfrm>
            <a:custGeom>
              <a:avLst/>
              <a:gdLst/>
              <a:ahLst/>
              <a:cxnLst/>
              <a:rect l="l" t="t" r="r" b="b"/>
              <a:pathLst>
                <a:path w="12027" h="9764" extrusionOk="0">
                  <a:moveTo>
                    <a:pt x="1834" y="334"/>
                  </a:moveTo>
                  <a:cubicBezTo>
                    <a:pt x="1834" y="334"/>
                    <a:pt x="1846" y="334"/>
                    <a:pt x="1846" y="358"/>
                  </a:cubicBezTo>
                  <a:lnTo>
                    <a:pt x="1846" y="1108"/>
                  </a:lnTo>
                  <a:cubicBezTo>
                    <a:pt x="1846" y="1108"/>
                    <a:pt x="1846" y="1132"/>
                    <a:pt x="1834" y="1132"/>
                  </a:cubicBezTo>
                  <a:lnTo>
                    <a:pt x="1465" y="1132"/>
                  </a:lnTo>
                  <a:cubicBezTo>
                    <a:pt x="1465" y="1132"/>
                    <a:pt x="1453" y="1132"/>
                    <a:pt x="1453" y="1108"/>
                  </a:cubicBezTo>
                  <a:lnTo>
                    <a:pt x="1453" y="358"/>
                  </a:lnTo>
                  <a:lnTo>
                    <a:pt x="1834" y="334"/>
                  </a:lnTo>
                  <a:close/>
                  <a:moveTo>
                    <a:pt x="10502" y="334"/>
                  </a:moveTo>
                  <a:cubicBezTo>
                    <a:pt x="10502" y="334"/>
                    <a:pt x="10514" y="334"/>
                    <a:pt x="10514" y="358"/>
                  </a:cubicBezTo>
                  <a:lnTo>
                    <a:pt x="10514" y="1108"/>
                  </a:lnTo>
                  <a:cubicBezTo>
                    <a:pt x="10514" y="1108"/>
                    <a:pt x="10514" y="1132"/>
                    <a:pt x="10502" y="1132"/>
                  </a:cubicBezTo>
                  <a:lnTo>
                    <a:pt x="10133" y="1132"/>
                  </a:lnTo>
                  <a:cubicBezTo>
                    <a:pt x="10133" y="1132"/>
                    <a:pt x="10109" y="1132"/>
                    <a:pt x="10109" y="1108"/>
                  </a:cubicBezTo>
                  <a:lnTo>
                    <a:pt x="10109" y="358"/>
                  </a:lnTo>
                  <a:lnTo>
                    <a:pt x="10502" y="334"/>
                  </a:lnTo>
                  <a:close/>
                  <a:moveTo>
                    <a:pt x="11229" y="1096"/>
                  </a:moveTo>
                  <a:cubicBezTo>
                    <a:pt x="11443" y="1096"/>
                    <a:pt x="11621" y="1274"/>
                    <a:pt x="11621" y="1477"/>
                  </a:cubicBezTo>
                  <a:lnTo>
                    <a:pt x="11621" y="9013"/>
                  </a:lnTo>
                  <a:cubicBezTo>
                    <a:pt x="11645" y="9240"/>
                    <a:pt x="11467" y="9406"/>
                    <a:pt x="11264" y="9406"/>
                  </a:cubicBezTo>
                  <a:lnTo>
                    <a:pt x="727" y="9406"/>
                  </a:lnTo>
                  <a:cubicBezTo>
                    <a:pt x="513" y="9406"/>
                    <a:pt x="334" y="9228"/>
                    <a:pt x="334" y="9013"/>
                  </a:cubicBezTo>
                  <a:lnTo>
                    <a:pt x="334" y="1477"/>
                  </a:lnTo>
                  <a:cubicBezTo>
                    <a:pt x="334" y="1274"/>
                    <a:pt x="513" y="1096"/>
                    <a:pt x="727" y="1096"/>
                  </a:cubicBezTo>
                  <a:lnTo>
                    <a:pt x="1108" y="1096"/>
                  </a:lnTo>
                  <a:lnTo>
                    <a:pt x="1108" y="1108"/>
                  </a:lnTo>
                  <a:cubicBezTo>
                    <a:pt x="1108" y="1322"/>
                    <a:pt x="1275" y="1465"/>
                    <a:pt x="1465" y="1465"/>
                  </a:cubicBezTo>
                  <a:lnTo>
                    <a:pt x="1834" y="1465"/>
                  </a:lnTo>
                  <a:cubicBezTo>
                    <a:pt x="2049" y="1465"/>
                    <a:pt x="2192" y="1298"/>
                    <a:pt x="2192" y="1108"/>
                  </a:cubicBezTo>
                  <a:lnTo>
                    <a:pt x="2192" y="1096"/>
                  </a:lnTo>
                  <a:lnTo>
                    <a:pt x="9752" y="1096"/>
                  </a:lnTo>
                  <a:lnTo>
                    <a:pt x="9752" y="1108"/>
                  </a:lnTo>
                  <a:cubicBezTo>
                    <a:pt x="9752" y="1322"/>
                    <a:pt x="9919" y="1465"/>
                    <a:pt x="10109" y="1465"/>
                  </a:cubicBezTo>
                  <a:lnTo>
                    <a:pt x="10490" y="1465"/>
                  </a:lnTo>
                  <a:cubicBezTo>
                    <a:pt x="10693" y="1465"/>
                    <a:pt x="10848" y="1298"/>
                    <a:pt x="10848" y="1108"/>
                  </a:cubicBezTo>
                  <a:lnTo>
                    <a:pt x="10848" y="1096"/>
                  </a:lnTo>
                  <a:close/>
                  <a:moveTo>
                    <a:pt x="1489" y="0"/>
                  </a:moveTo>
                  <a:cubicBezTo>
                    <a:pt x="1287" y="0"/>
                    <a:pt x="1132" y="155"/>
                    <a:pt x="1132" y="358"/>
                  </a:cubicBezTo>
                  <a:lnTo>
                    <a:pt x="1132" y="739"/>
                  </a:lnTo>
                  <a:lnTo>
                    <a:pt x="751" y="739"/>
                  </a:lnTo>
                  <a:cubicBezTo>
                    <a:pt x="346" y="739"/>
                    <a:pt x="1" y="1072"/>
                    <a:pt x="1" y="1489"/>
                  </a:cubicBezTo>
                  <a:lnTo>
                    <a:pt x="1" y="9013"/>
                  </a:lnTo>
                  <a:cubicBezTo>
                    <a:pt x="1" y="9418"/>
                    <a:pt x="334" y="9764"/>
                    <a:pt x="751" y="9764"/>
                  </a:cubicBezTo>
                  <a:lnTo>
                    <a:pt x="11288" y="9764"/>
                  </a:lnTo>
                  <a:cubicBezTo>
                    <a:pt x="11693" y="9764"/>
                    <a:pt x="12026" y="9430"/>
                    <a:pt x="12026" y="9013"/>
                  </a:cubicBezTo>
                  <a:lnTo>
                    <a:pt x="12026" y="1489"/>
                  </a:lnTo>
                  <a:cubicBezTo>
                    <a:pt x="12002" y="1084"/>
                    <a:pt x="11657" y="739"/>
                    <a:pt x="11264" y="739"/>
                  </a:cubicBezTo>
                  <a:lnTo>
                    <a:pt x="10871" y="739"/>
                  </a:lnTo>
                  <a:lnTo>
                    <a:pt x="10871" y="358"/>
                  </a:lnTo>
                  <a:cubicBezTo>
                    <a:pt x="10871" y="143"/>
                    <a:pt x="10705" y="0"/>
                    <a:pt x="10514" y="0"/>
                  </a:cubicBezTo>
                  <a:lnTo>
                    <a:pt x="10145" y="0"/>
                  </a:lnTo>
                  <a:cubicBezTo>
                    <a:pt x="9931" y="0"/>
                    <a:pt x="9788" y="155"/>
                    <a:pt x="9788" y="358"/>
                  </a:cubicBezTo>
                  <a:lnTo>
                    <a:pt x="9788" y="739"/>
                  </a:lnTo>
                  <a:lnTo>
                    <a:pt x="2227" y="739"/>
                  </a:lnTo>
                  <a:lnTo>
                    <a:pt x="2227" y="358"/>
                  </a:lnTo>
                  <a:cubicBezTo>
                    <a:pt x="2227" y="143"/>
                    <a:pt x="2061" y="0"/>
                    <a:pt x="18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12711;p89">
              <a:extLst>
                <a:ext uri="{FF2B5EF4-FFF2-40B4-BE49-F238E27FC236}">
                  <a16:creationId xmlns:a16="http://schemas.microsoft.com/office/drawing/2014/main" id="{E8554835-8850-DBCA-771D-09E19927809D}"/>
                </a:ext>
              </a:extLst>
            </p:cNvPr>
            <p:cNvSpPr/>
            <p:nvPr/>
          </p:nvSpPr>
          <p:spPr>
            <a:xfrm>
              <a:off x="6106950" y="1606787"/>
              <a:ext cx="334661" cy="11395"/>
            </a:xfrm>
            <a:custGeom>
              <a:avLst/>
              <a:gdLst/>
              <a:ahLst/>
              <a:cxnLst/>
              <a:rect l="l" t="t" r="r" b="b"/>
              <a:pathLst>
                <a:path w="10514" h="358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0335" y="358"/>
                  </a:lnTo>
                  <a:cubicBezTo>
                    <a:pt x="10442" y="358"/>
                    <a:pt x="10513" y="286"/>
                    <a:pt x="10513" y="179"/>
                  </a:cubicBezTo>
                  <a:cubicBezTo>
                    <a:pt x="10513" y="72"/>
                    <a:pt x="10442" y="1"/>
                    <a:pt x="1033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12712;p89">
              <a:extLst>
                <a:ext uri="{FF2B5EF4-FFF2-40B4-BE49-F238E27FC236}">
                  <a16:creationId xmlns:a16="http://schemas.microsoft.com/office/drawing/2014/main" id="{A3CB9777-E32D-4C4E-746C-08517D183258}"/>
                </a:ext>
              </a:extLst>
            </p:cNvPr>
            <p:cNvSpPr/>
            <p:nvPr/>
          </p:nvSpPr>
          <p:spPr>
            <a:xfrm>
              <a:off x="6124743" y="1655296"/>
              <a:ext cx="47427" cy="11395"/>
            </a:xfrm>
            <a:custGeom>
              <a:avLst/>
              <a:gdLst/>
              <a:ahLst/>
              <a:cxnLst/>
              <a:rect l="l" t="t" r="r" b="b"/>
              <a:pathLst>
                <a:path w="1490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8" y="358"/>
                    <a:pt x="1489" y="275"/>
                    <a:pt x="1489" y="179"/>
                  </a:cubicBezTo>
                  <a:cubicBezTo>
                    <a:pt x="1489" y="72"/>
                    <a:pt x="1406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12713;p89">
              <a:extLst>
                <a:ext uri="{FF2B5EF4-FFF2-40B4-BE49-F238E27FC236}">
                  <a16:creationId xmlns:a16="http://schemas.microsoft.com/office/drawing/2014/main" id="{03B01392-EF2D-9939-8628-1C23C1DF94E0}"/>
                </a:ext>
              </a:extLst>
            </p:cNvPr>
            <p:cNvSpPr/>
            <p:nvPr/>
          </p:nvSpPr>
          <p:spPr>
            <a:xfrm>
              <a:off x="6208520" y="1655296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310" y="358"/>
                  </a:lnTo>
                  <a:cubicBezTo>
                    <a:pt x="1417" y="358"/>
                    <a:pt x="1488" y="275"/>
                    <a:pt x="1488" y="179"/>
                  </a:cubicBezTo>
                  <a:cubicBezTo>
                    <a:pt x="1488" y="72"/>
                    <a:pt x="1405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12714;p89">
              <a:extLst>
                <a:ext uri="{FF2B5EF4-FFF2-40B4-BE49-F238E27FC236}">
                  <a16:creationId xmlns:a16="http://schemas.microsoft.com/office/drawing/2014/main" id="{18B97AD2-D8F2-F0F8-83EB-C8CED9C13C3C}"/>
                </a:ext>
              </a:extLst>
            </p:cNvPr>
            <p:cNvSpPr/>
            <p:nvPr/>
          </p:nvSpPr>
          <p:spPr>
            <a:xfrm>
              <a:off x="6376391" y="1655296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7" y="358"/>
                    <a:pt x="1489" y="275"/>
                    <a:pt x="1489" y="179"/>
                  </a:cubicBezTo>
                  <a:cubicBezTo>
                    <a:pt x="1489" y="72"/>
                    <a:pt x="1417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12715;p89">
              <a:extLst>
                <a:ext uri="{FF2B5EF4-FFF2-40B4-BE49-F238E27FC236}">
                  <a16:creationId xmlns:a16="http://schemas.microsoft.com/office/drawing/2014/main" id="{208C84EE-8BB5-11D9-EC90-DA0763EF5E23}"/>
                </a:ext>
              </a:extLst>
            </p:cNvPr>
            <p:cNvSpPr/>
            <p:nvPr/>
          </p:nvSpPr>
          <p:spPr>
            <a:xfrm>
              <a:off x="6124743" y="1703041"/>
              <a:ext cx="47427" cy="11427"/>
            </a:xfrm>
            <a:custGeom>
              <a:avLst/>
              <a:gdLst/>
              <a:ahLst/>
              <a:cxnLst/>
              <a:rect l="l" t="t" r="r" b="b"/>
              <a:pathLst>
                <a:path w="1490" h="359" extrusionOk="0">
                  <a:moveTo>
                    <a:pt x="179" y="1"/>
                  </a:moveTo>
                  <a:cubicBezTo>
                    <a:pt x="72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18" y="358"/>
                    <a:pt x="1489" y="275"/>
                    <a:pt x="1489" y="180"/>
                  </a:cubicBezTo>
                  <a:cubicBezTo>
                    <a:pt x="1489" y="72"/>
                    <a:pt x="1406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12716;p89">
              <a:extLst>
                <a:ext uri="{FF2B5EF4-FFF2-40B4-BE49-F238E27FC236}">
                  <a16:creationId xmlns:a16="http://schemas.microsoft.com/office/drawing/2014/main" id="{9DC59CCD-B12E-A8AB-5FCD-620C00384FFA}"/>
                </a:ext>
              </a:extLst>
            </p:cNvPr>
            <p:cNvSpPr/>
            <p:nvPr/>
          </p:nvSpPr>
          <p:spPr>
            <a:xfrm>
              <a:off x="6292646" y="1703041"/>
              <a:ext cx="47395" cy="11427"/>
            </a:xfrm>
            <a:custGeom>
              <a:avLst/>
              <a:gdLst/>
              <a:ahLst/>
              <a:cxnLst/>
              <a:rect l="l" t="t" r="r" b="b"/>
              <a:pathLst>
                <a:path w="1489" h="359" extrusionOk="0">
                  <a:moveTo>
                    <a:pt x="179" y="1"/>
                  </a:moveTo>
                  <a:cubicBezTo>
                    <a:pt x="72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10" y="358"/>
                  </a:lnTo>
                  <a:cubicBezTo>
                    <a:pt x="1405" y="358"/>
                    <a:pt x="1489" y="275"/>
                    <a:pt x="1489" y="180"/>
                  </a:cubicBezTo>
                  <a:cubicBezTo>
                    <a:pt x="1489" y="72"/>
                    <a:pt x="1405" y="1"/>
                    <a:pt x="13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12717;p89">
              <a:extLst>
                <a:ext uri="{FF2B5EF4-FFF2-40B4-BE49-F238E27FC236}">
                  <a16:creationId xmlns:a16="http://schemas.microsoft.com/office/drawing/2014/main" id="{74D31BB0-0E0D-E970-A824-9775F34FF4FB}"/>
                </a:ext>
              </a:extLst>
            </p:cNvPr>
            <p:cNvSpPr/>
            <p:nvPr/>
          </p:nvSpPr>
          <p:spPr>
            <a:xfrm>
              <a:off x="6124743" y="1750818"/>
              <a:ext cx="47427" cy="11395"/>
            </a:xfrm>
            <a:custGeom>
              <a:avLst/>
              <a:gdLst/>
              <a:ahLst/>
              <a:cxnLst/>
              <a:rect l="l" t="t" r="r" b="b"/>
              <a:pathLst>
                <a:path w="1490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8" y="357"/>
                    <a:pt x="1489" y="286"/>
                    <a:pt x="1489" y="179"/>
                  </a:cubicBezTo>
                  <a:cubicBezTo>
                    <a:pt x="1489" y="72"/>
                    <a:pt x="1406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12718;p89">
              <a:extLst>
                <a:ext uri="{FF2B5EF4-FFF2-40B4-BE49-F238E27FC236}">
                  <a16:creationId xmlns:a16="http://schemas.microsoft.com/office/drawing/2014/main" id="{6A8D2669-25FA-6A55-6A82-BDF5530903A2}"/>
                </a:ext>
              </a:extLst>
            </p:cNvPr>
            <p:cNvSpPr/>
            <p:nvPr/>
          </p:nvSpPr>
          <p:spPr>
            <a:xfrm>
              <a:off x="6208520" y="1750818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83" y="0"/>
                    <a:pt x="0" y="72"/>
                    <a:pt x="0" y="179"/>
                  </a:cubicBezTo>
                  <a:cubicBezTo>
                    <a:pt x="0" y="286"/>
                    <a:pt x="83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8" y="286"/>
                    <a:pt x="1488" y="179"/>
                  </a:cubicBezTo>
                  <a:cubicBezTo>
                    <a:pt x="1488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12719;p89">
              <a:extLst>
                <a:ext uri="{FF2B5EF4-FFF2-40B4-BE49-F238E27FC236}">
                  <a16:creationId xmlns:a16="http://schemas.microsoft.com/office/drawing/2014/main" id="{DDD741E6-8EE6-13C5-168F-92E516FD64B1}"/>
                </a:ext>
              </a:extLst>
            </p:cNvPr>
            <p:cNvSpPr/>
            <p:nvPr/>
          </p:nvSpPr>
          <p:spPr>
            <a:xfrm>
              <a:off x="6376391" y="1750818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9" y="286"/>
                    <a:pt x="1489" y="179"/>
                  </a:cubicBezTo>
                  <a:cubicBezTo>
                    <a:pt x="1489" y="72"/>
                    <a:pt x="1417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12720;p89">
              <a:extLst>
                <a:ext uri="{FF2B5EF4-FFF2-40B4-BE49-F238E27FC236}">
                  <a16:creationId xmlns:a16="http://schemas.microsoft.com/office/drawing/2014/main" id="{292CD0D2-C673-4FC5-9288-DA7BA2CEC953}"/>
                </a:ext>
              </a:extLst>
            </p:cNvPr>
            <p:cNvSpPr/>
            <p:nvPr/>
          </p:nvSpPr>
          <p:spPr>
            <a:xfrm>
              <a:off x="6208520" y="1798563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83" y="0"/>
                    <a:pt x="0" y="72"/>
                    <a:pt x="0" y="179"/>
                  </a:cubicBezTo>
                  <a:cubicBezTo>
                    <a:pt x="0" y="286"/>
                    <a:pt x="83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8" y="286"/>
                    <a:pt x="1488" y="179"/>
                  </a:cubicBezTo>
                  <a:cubicBezTo>
                    <a:pt x="1488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12721;p89">
              <a:extLst>
                <a:ext uri="{FF2B5EF4-FFF2-40B4-BE49-F238E27FC236}">
                  <a16:creationId xmlns:a16="http://schemas.microsoft.com/office/drawing/2014/main" id="{0AB65EAC-998F-5926-F723-6212A728CCCA}"/>
                </a:ext>
              </a:extLst>
            </p:cNvPr>
            <p:cNvSpPr/>
            <p:nvPr/>
          </p:nvSpPr>
          <p:spPr>
            <a:xfrm>
              <a:off x="6292646" y="1798563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72" y="0"/>
                    <a:pt x="0" y="72"/>
                    <a:pt x="0" y="179"/>
                  </a:cubicBezTo>
                  <a:cubicBezTo>
                    <a:pt x="0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05" y="357"/>
                    <a:pt x="1489" y="286"/>
                    <a:pt x="1489" y="179"/>
                  </a:cubicBezTo>
                  <a:cubicBezTo>
                    <a:pt x="1489" y="72"/>
                    <a:pt x="1405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12722;p89">
              <a:extLst>
                <a:ext uri="{FF2B5EF4-FFF2-40B4-BE49-F238E27FC236}">
                  <a16:creationId xmlns:a16="http://schemas.microsoft.com/office/drawing/2014/main" id="{878856EC-A883-67D0-617D-443B30C01640}"/>
                </a:ext>
              </a:extLst>
            </p:cNvPr>
            <p:cNvSpPr/>
            <p:nvPr/>
          </p:nvSpPr>
          <p:spPr>
            <a:xfrm>
              <a:off x="6376391" y="1798563"/>
              <a:ext cx="47395" cy="11395"/>
            </a:xfrm>
            <a:custGeom>
              <a:avLst/>
              <a:gdLst/>
              <a:ahLst/>
              <a:cxnLst/>
              <a:rect l="l" t="t" r="r" b="b"/>
              <a:pathLst>
                <a:path w="1489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310" y="357"/>
                  </a:lnTo>
                  <a:cubicBezTo>
                    <a:pt x="1417" y="357"/>
                    <a:pt x="1489" y="286"/>
                    <a:pt x="1489" y="179"/>
                  </a:cubicBezTo>
                  <a:cubicBezTo>
                    <a:pt x="1489" y="72"/>
                    <a:pt x="1417" y="0"/>
                    <a:pt x="131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12723;p89">
              <a:extLst>
                <a:ext uri="{FF2B5EF4-FFF2-40B4-BE49-F238E27FC236}">
                  <a16:creationId xmlns:a16="http://schemas.microsoft.com/office/drawing/2014/main" id="{EB2DC3B0-FA15-3F03-37FC-AE81900CB1E8}"/>
                </a:ext>
              </a:extLst>
            </p:cNvPr>
            <p:cNvSpPr/>
            <p:nvPr/>
          </p:nvSpPr>
          <p:spPr>
            <a:xfrm>
              <a:off x="6207756" y="1690723"/>
              <a:ext cx="48923" cy="35108"/>
            </a:xfrm>
            <a:custGeom>
              <a:avLst/>
              <a:gdLst/>
              <a:ahLst/>
              <a:cxnLst/>
              <a:rect l="l" t="t" r="r" b="b"/>
              <a:pathLst>
                <a:path w="1537" h="1103" extrusionOk="0">
                  <a:moveTo>
                    <a:pt x="1328" y="1"/>
                  </a:moveTo>
                  <a:cubicBezTo>
                    <a:pt x="1283" y="1"/>
                    <a:pt x="1239" y="19"/>
                    <a:pt x="1203" y="55"/>
                  </a:cubicBezTo>
                  <a:lnTo>
                    <a:pt x="584" y="686"/>
                  </a:lnTo>
                  <a:lnTo>
                    <a:pt x="322" y="436"/>
                  </a:lnTo>
                  <a:cubicBezTo>
                    <a:pt x="286" y="394"/>
                    <a:pt x="241" y="373"/>
                    <a:pt x="197" y="373"/>
                  </a:cubicBezTo>
                  <a:cubicBezTo>
                    <a:pt x="152" y="373"/>
                    <a:pt x="107" y="394"/>
                    <a:pt x="72" y="436"/>
                  </a:cubicBezTo>
                  <a:cubicBezTo>
                    <a:pt x="0" y="507"/>
                    <a:pt x="0" y="614"/>
                    <a:pt x="72" y="686"/>
                  </a:cubicBezTo>
                  <a:lnTo>
                    <a:pt x="441" y="1055"/>
                  </a:lnTo>
                  <a:cubicBezTo>
                    <a:pt x="477" y="1078"/>
                    <a:pt x="512" y="1102"/>
                    <a:pt x="560" y="1102"/>
                  </a:cubicBezTo>
                  <a:cubicBezTo>
                    <a:pt x="607" y="1102"/>
                    <a:pt x="655" y="1078"/>
                    <a:pt x="679" y="1055"/>
                  </a:cubicBezTo>
                  <a:lnTo>
                    <a:pt x="1441" y="293"/>
                  </a:lnTo>
                  <a:cubicBezTo>
                    <a:pt x="1536" y="233"/>
                    <a:pt x="1536" y="138"/>
                    <a:pt x="1453" y="55"/>
                  </a:cubicBezTo>
                  <a:cubicBezTo>
                    <a:pt x="1417" y="19"/>
                    <a:pt x="1372" y="1"/>
                    <a:pt x="132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12724;p89">
              <a:extLst>
                <a:ext uri="{FF2B5EF4-FFF2-40B4-BE49-F238E27FC236}">
                  <a16:creationId xmlns:a16="http://schemas.microsoft.com/office/drawing/2014/main" id="{32440532-EA25-5E5D-B3DB-6B2278B173E6}"/>
                </a:ext>
              </a:extLst>
            </p:cNvPr>
            <p:cNvSpPr/>
            <p:nvPr/>
          </p:nvSpPr>
          <p:spPr>
            <a:xfrm>
              <a:off x="6376009" y="1690723"/>
              <a:ext cx="48159" cy="35108"/>
            </a:xfrm>
            <a:custGeom>
              <a:avLst/>
              <a:gdLst/>
              <a:ahLst/>
              <a:cxnLst/>
              <a:rect l="l" t="t" r="r" b="b"/>
              <a:pathLst>
                <a:path w="1513" h="1103" extrusionOk="0">
                  <a:moveTo>
                    <a:pt x="1328" y="1"/>
                  </a:moveTo>
                  <a:cubicBezTo>
                    <a:pt x="1284" y="1"/>
                    <a:pt x="1239" y="19"/>
                    <a:pt x="1203" y="55"/>
                  </a:cubicBezTo>
                  <a:lnTo>
                    <a:pt x="572" y="686"/>
                  </a:lnTo>
                  <a:lnTo>
                    <a:pt x="322" y="436"/>
                  </a:lnTo>
                  <a:cubicBezTo>
                    <a:pt x="286" y="394"/>
                    <a:pt x="242" y="373"/>
                    <a:pt x="197" y="373"/>
                  </a:cubicBezTo>
                  <a:cubicBezTo>
                    <a:pt x="152" y="373"/>
                    <a:pt x="108" y="394"/>
                    <a:pt x="72" y="436"/>
                  </a:cubicBezTo>
                  <a:cubicBezTo>
                    <a:pt x="1" y="507"/>
                    <a:pt x="1" y="614"/>
                    <a:pt x="72" y="686"/>
                  </a:cubicBezTo>
                  <a:lnTo>
                    <a:pt x="441" y="1055"/>
                  </a:lnTo>
                  <a:cubicBezTo>
                    <a:pt x="477" y="1078"/>
                    <a:pt x="513" y="1102"/>
                    <a:pt x="560" y="1102"/>
                  </a:cubicBezTo>
                  <a:cubicBezTo>
                    <a:pt x="608" y="1102"/>
                    <a:pt x="644" y="1078"/>
                    <a:pt x="679" y="1055"/>
                  </a:cubicBezTo>
                  <a:lnTo>
                    <a:pt x="1441" y="293"/>
                  </a:lnTo>
                  <a:cubicBezTo>
                    <a:pt x="1513" y="233"/>
                    <a:pt x="1513" y="138"/>
                    <a:pt x="1453" y="55"/>
                  </a:cubicBezTo>
                  <a:cubicBezTo>
                    <a:pt x="1417" y="19"/>
                    <a:pt x="1373" y="1"/>
                    <a:pt x="132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12725;p89">
              <a:extLst>
                <a:ext uri="{FF2B5EF4-FFF2-40B4-BE49-F238E27FC236}">
                  <a16:creationId xmlns:a16="http://schemas.microsoft.com/office/drawing/2014/main" id="{E634574E-13FD-52EB-A52B-2C7FEC2317C3}"/>
                </a:ext>
              </a:extLst>
            </p:cNvPr>
            <p:cNvSpPr/>
            <p:nvPr/>
          </p:nvSpPr>
          <p:spPr>
            <a:xfrm>
              <a:off x="6291500" y="1738595"/>
              <a:ext cx="48923" cy="34981"/>
            </a:xfrm>
            <a:custGeom>
              <a:avLst/>
              <a:gdLst/>
              <a:ahLst/>
              <a:cxnLst/>
              <a:rect l="l" t="t" r="r" b="b"/>
              <a:pathLst>
                <a:path w="1537" h="1099" extrusionOk="0">
                  <a:moveTo>
                    <a:pt x="1334" y="0"/>
                  </a:moveTo>
                  <a:cubicBezTo>
                    <a:pt x="1289" y="0"/>
                    <a:pt x="1245" y="21"/>
                    <a:pt x="1203" y="63"/>
                  </a:cubicBezTo>
                  <a:lnTo>
                    <a:pt x="584" y="682"/>
                  </a:lnTo>
                  <a:lnTo>
                    <a:pt x="322" y="432"/>
                  </a:lnTo>
                  <a:cubicBezTo>
                    <a:pt x="286" y="396"/>
                    <a:pt x="242" y="378"/>
                    <a:pt x="197" y="378"/>
                  </a:cubicBezTo>
                  <a:cubicBezTo>
                    <a:pt x="152" y="378"/>
                    <a:pt x="108" y="396"/>
                    <a:pt x="72" y="432"/>
                  </a:cubicBezTo>
                  <a:cubicBezTo>
                    <a:pt x="1" y="503"/>
                    <a:pt x="1" y="610"/>
                    <a:pt x="72" y="682"/>
                  </a:cubicBezTo>
                  <a:lnTo>
                    <a:pt x="441" y="1051"/>
                  </a:lnTo>
                  <a:cubicBezTo>
                    <a:pt x="477" y="1087"/>
                    <a:pt x="524" y="1098"/>
                    <a:pt x="560" y="1098"/>
                  </a:cubicBezTo>
                  <a:cubicBezTo>
                    <a:pt x="608" y="1098"/>
                    <a:pt x="655" y="1087"/>
                    <a:pt x="679" y="1051"/>
                  </a:cubicBezTo>
                  <a:lnTo>
                    <a:pt x="1441" y="301"/>
                  </a:lnTo>
                  <a:cubicBezTo>
                    <a:pt x="1536" y="241"/>
                    <a:pt x="1536" y="134"/>
                    <a:pt x="1465" y="63"/>
                  </a:cubicBezTo>
                  <a:cubicBezTo>
                    <a:pt x="1423" y="21"/>
                    <a:pt x="1379" y="0"/>
                    <a:pt x="133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12726;p89">
              <a:extLst>
                <a:ext uri="{FF2B5EF4-FFF2-40B4-BE49-F238E27FC236}">
                  <a16:creationId xmlns:a16="http://schemas.microsoft.com/office/drawing/2014/main" id="{AF61CADF-4ED5-2CD4-9A84-D9B77ECDB94F}"/>
                </a:ext>
              </a:extLst>
            </p:cNvPr>
            <p:cNvSpPr/>
            <p:nvPr/>
          </p:nvSpPr>
          <p:spPr>
            <a:xfrm>
              <a:off x="6123629" y="1786627"/>
              <a:ext cx="48891" cy="34695"/>
            </a:xfrm>
            <a:custGeom>
              <a:avLst/>
              <a:gdLst/>
              <a:ahLst/>
              <a:cxnLst/>
              <a:rect l="l" t="t" r="r" b="b"/>
              <a:pathLst>
                <a:path w="1536" h="1090" extrusionOk="0">
                  <a:moveTo>
                    <a:pt x="1340" y="0"/>
                  </a:moveTo>
                  <a:cubicBezTo>
                    <a:pt x="1295" y="0"/>
                    <a:pt x="1250" y="18"/>
                    <a:pt x="1215" y="54"/>
                  </a:cubicBezTo>
                  <a:lnTo>
                    <a:pt x="583" y="673"/>
                  </a:lnTo>
                  <a:lnTo>
                    <a:pt x="333" y="423"/>
                  </a:lnTo>
                  <a:cubicBezTo>
                    <a:pt x="298" y="387"/>
                    <a:pt x="253" y="369"/>
                    <a:pt x="208" y="369"/>
                  </a:cubicBezTo>
                  <a:cubicBezTo>
                    <a:pt x="164" y="369"/>
                    <a:pt x="119" y="387"/>
                    <a:pt x="83" y="423"/>
                  </a:cubicBezTo>
                  <a:cubicBezTo>
                    <a:pt x="0" y="494"/>
                    <a:pt x="0" y="601"/>
                    <a:pt x="83" y="673"/>
                  </a:cubicBezTo>
                  <a:lnTo>
                    <a:pt x="453" y="1042"/>
                  </a:lnTo>
                  <a:cubicBezTo>
                    <a:pt x="476" y="1078"/>
                    <a:pt x="524" y="1090"/>
                    <a:pt x="572" y="1090"/>
                  </a:cubicBezTo>
                  <a:cubicBezTo>
                    <a:pt x="619" y="1090"/>
                    <a:pt x="655" y="1078"/>
                    <a:pt x="691" y="1042"/>
                  </a:cubicBezTo>
                  <a:lnTo>
                    <a:pt x="1453" y="292"/>
                  </a:lnTo>
                  <a:cubicBezTo>
                    <a:pt x="1536" y="232"/>
                    <a:pt x="1536" y="125"/>
                    <a:pt x="1465" y="54"/>
                  </a:cubicBezTo>
                  <a:cubicBezTo>
                    <a:pt x="1429" y="18"/>
                    <a:pt x="1384" y="0"/>
                    <a:pt x="134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12727;p89">
              <a:extLst>
                <a:ext uri="{FF2B5EF4-FFF2-40B4-BE49-F238E27FC236}">
                  <a16:creationId xmlns:a16="http://schemas.microsoft.com/office/drawing/2014/main" id="{508AEA4E-635A-41DE-AB28-8A1491475F7C}"/>
                </a:ext>
              </a:extLst>
            </p:cNvPr>
            <p:cNvSpPr/>
            <p:nvPr/>
          </p:nvSpPr>
          <p:spPr>
            <a:xfrm>
              <a:off x="6291500" y="1642978"/>
              <a:ext cx="48923" cy="34727"/>
            </a:xfrm>
            <a:custGeom>
              <a:avLst/>
              <a:gdLst/>
              <a:ahLst/>
              <a:cxnLst/>
              <a:rect l="l" t="t" r="r" b="b"/>
              <a:pathLst>
                <a:path w="1537" h="1091" extrusionOk="0">
                  <a:moveTo>
                    <a:pt x="1334" y="1"/>
                  </a:moveTo>
                  <a:cubicBezTo>
                    <a:pt x="1289" y="1"/>
                    <a:pt x="1245" y="19"/>
                    <a:pt x="1203" y="54"/>
                  </a:cubicBezTo>
                  <a:lnTo>
                    <a:pt x="584" y="673"/>
                  </a:lnTo>
                  <a:lnTo>
                    <a:pt x="322" y="423"/>
                  </a:lnTo>
                  <a:cubicBezTo>
                    <a:pt x="286" y="388"/>
                    <a:pt x="242" y="370"/>
                    <a:pt x="197" y="370"/>
                  </a:cubicBezTo>
                  <a:cubicBezTo>
                    <a:pt x="152" y="370"/>
                    <a:pt x="108" y="388"/>
                    <a:pt x="72" y="423"/>
                  </a:cubicBezTo>
                  <a:cubicBezTo>
                    <a:pt x="1" y="495"/>
                    <a:pt x="1" y="602"/>
                    <a:pt x="72" y="673"/>
                  </a:cubicBezTo>
                  <a:lnTo>
                    <a:pt x="441" y="1054"/>
                  </a:lnTo>
                  <a:cubicBezTo>
                    <a:pt x="477" y="1078"/>
                    <a:pt x="524" y="1090"/>
                    <a:pt x="560" y="1090"/>
                  </a:cubicBezTo>
                  <a:cubicBezTo>
                    <a:pt x="608" y="1090"/>
                    <a:pt x="655" y="1078"/>
                    <a:pt x="679" y="1054"/>
                  </a:cubicBezTo>
                  <a:lnTo>
                    <a:pt x="1441" y="292"/>
                  </a:lnTo>
                  <a:cubicBezTo>
                    <a:pt x="1536" y="233"/>
                    <a:pt x="1536" y="114"/>
                    <a:pt x="1465" y="54"/>
                  </a:cubicBezTo>
                  <a:cubicBezTo>
                    <a:pt x="1423" y="19"/>
                    <a:pt x="1379" y="1"/>
                    <a:pt x="13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00" name="Straight Connector 99">
            <a:extLst>
              <a:ext uri="{FF2B5EF4-FFF2-40B4-BE49-F238E27FC236}">
                <a16:creationId xmlns:a16="http://schemas.microsoft.com/office/drawing/2014/main" id="{1AFD3BE6-1A65-BE2A-AD28-DAF2CA6BBB7C}"/>
              </a:ext>
            </a:extLst>
          </p:cNvPr>
          <p:cNvCxnSpPr>
            <a:cxnSpLocks/>
            <a:endCxn id="92" idx="1"/>
          </p:cNvCxnSpPr>
          <p:nvPr/>
        </p:nvCxnSpPr>
        <p:spPr>
          <a:xfrm>
            <a:off x="4850589" y="2909579"/>
            <a:ext cx="1570547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C30E4EB1-30D5-A49B-59C8-5152CC483151}"/>
              </a:ext>
            </a:extLst>
          </p:cNvPr>
          <p:cNvCxnSpPr>
            <a:cxnSpLocks/>
          </p:cNvCxnSpPr>
          <p:nvPr/>
        </p:nvCxnSpPr>
        <p:spPr>
          <a:xfrm>
            <a:off x="4860511" y="2909579"/>
            <a:ext cx="0" cy="1018978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39AD9089-6DF5-12B2-3826-98071235E14F}"/>
              </a:ext>
            </a:extLst>
          </p:cNvPr>
          <p:cNvCxnSpPr>
            <a:cxnSpLocks/>
          </p:cNvCxnSpPr>
          <p:nvPr/>
        </p:nvCxnSpPr>
        <p:spPr>
          <a:xfrm>
            <a:off x="4860511" y="1689331"/>
            <a:ext cx="7620" cy="1251012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Google Shape;1062;p67">
            <a:extLst>
              <a:ext uri="{FF2B5EF4-FFF2-40B4-BE49-F238E27FC236}">
                <a16:creationId xmlns:a16="http://schemas.microsoft.com/office/drawing/2014/main" id="{5F5ACAE6-992C-493B-47E5-2853D85D9A25}"/>
              </a:ext>
            </a:extLst>
          </p:cNvPr>
          <p:cNvSpPr/>
          <p:nvPr/>
        </p:nvSpPr>
        <p:spPr>
          <a:xfrm>
            <a:off x="3153901" y="1351328"/>
            <a:ext cx="674700" cy="674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tx2">
                  <a:lumMod val="40000"/>
                  <a:lumOff val="60000"/>
                </a:schemeClr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40" name="Google Shape;1062;p67">
            <a:extLst>
              <a:ext uri="{FF2B5EF4-FFF2-40B4-BE49-F238E27FC236}">
                <a16:creationId xmlns:a16="http://schemas.microsoft.com/office/drawing/2014/main" id="{ADF888F6-6397-E38B-01F9-C4A7A79E5698}"/>
              </a:ext>
            </a:extLst>
          </p:cNvPr>
          <p:cNvSpPr/>
          <p:nvPr/>
        </p:nvSpPr>
        <p:spPr>
          <a:xfrm>
            <a:off x="3143609" y="3603972"/>
            <a:ext cx="674700" cy="6747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40518EDC-4C7C-F208-2725-D965061BEF69}"/>
              </a:ext>
            </a:extLst>
          </p:cNvPr>
          <p:cNvCxnSpPr>
            <a:cxnSpLocks/>
          </p:cNvCxnSpPr>
          <p:nvPr/>
        </p:nvCxnSpPr>
        <p:spPr>
          <a:xfrm flipH="1">
            <a:off x="3839206" y="1689331"/>
            <a:ext cx="103654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BB6F0B25-91A1-5121-F5F9-E654A299B50B}"/>
              </a:ext>
            </a:extLst>
          </p:cNvPr>
          <p:cNvCxnSpPr>
            <a:cxnSpLocks/>
          </p:cNvCxnSpPr>
          <p:nvPr/>
        </p:nvCxnSpPr>
        <p:spPr>
          <a:xfrm>
            <a:off x="3831586" y="3935877"/>
            <a:ext cx="1028925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28" name="Google Shape;10390;p85">
            <a:extLst>
              <a:ext uri="{FF2B5EF4-FFF2-40B4-BE49-F238E27FC236}">
                <a16:creationId xmlns:a16="http://schemas.microsoft.com/office/drawing/2014/main" id="{B9BDF22F-315A-2606-2D46-7E78D702C179}"/>
              </a:ext>
            </a:extLst>
          </p:cNvPr>
          <p:cNvGrpSpPr/>
          <p:nvPr/>
        </p:nvGrpSpPr>
        <p:grpSpPr>
          <a:xfrm>
            <a:off x="3296200" y="3750256"/>
            <a:ext cx="369517" cy="375660"/>
            <a:chOff x="850092" y="3352934"/>
            <a:chExt cx="369517" cy="375660"/>
          </a:xfrm>
        </p:grpSpPr>
        <p:sp>
          <p:nvSpPr>
            <p:cNvPr id="129" name="Google Shape;10391;p85">
              <a:extLst>
                <a:ext uri="{FF2B5EF4-FFF2-40B4-BE49-F238E27FC236}">
                  <a16:creationId xmlns:a16="http://schemas.microsoft.com/office/drawing/2014/main" id="{B710702B-FEBD-3690-361C-B3B2034E7EB8}"/>
                </a:ext>
              </a:extLst>
            </p:cNvPr>
            <p:cNvSpPr/>
            <p:nvPr/>
          </p:nvSpPr>
          <p:spPr>
            <a:xfrm>
              <a:off x="969859" y="3475692"/>
              <a:ext cx="53088" cy="53088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46"/>
                  </a:moveTo>
                  <a:cubicBezTo>
                    <a:pt x="1108" y="346"/>
                    <a:pt x="1322" y="560"/>
                    <a:pt x="1322" y="834"/>
                  </a:cubicBezTo>
                  <a:cubicBezTo>
                    <a:pt x="1322" y="1096"/>
                    <a:pt x="1108" y="1322"/>
                    <a:pt x="834" y="1322"/>
                  </a:cubicBezTo>
                  <a:cubicBezTo>
                    <a:pt x="548" y="1322"/>
                    <a:pt x="346" y="1096"/>
                    <a:pt x="346" y="834"/>
                  </a:cubicBezTo>
                  <a:cubicBezTo>
                    <a:pt x="346" y="560"/>
                    <a:pt x="572" y="346"/>
                    <a:pt x="834" y="346"/>
                  </a:cubicBezTo>
                  <a:close/>
                  <a:moveTo>
                    <a:pt x="834" y="1"/>
                  </a:moveTo>
                  <a:cubicBezTo>
                    <a:pt x="369" y="1"/>
                    <a:pt x="0" y="370"/>
                    <a:pt x="0" y="834"/>
                  </a:cubicBezTo>
                  <a:cubicBezTo>
                    <a:pt x="0" y="1299"/>
                    <a:pt x="369" y="1668"/>
                    <a:pt x="834" y="1668"/>
                  </a:cubicBezTo>
                  <a:cubicBezTo>
                    <a:pt x="1298" y="1668"/>
                    <a:pt x="1667" y="1299"/>
                    <a:pt x="1667" y="834"/>
                  </a:cubicBezTo>
                  <a:cubicBezTo>
                    <a:pt x="1667" y="370"/>
                    <a:pt x="1298" y="1"/>
                    <a:pt x="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0392;p85">
              <a:extLst>
                <a:ext uri="{FF2B5EF4-FFF2-40B4-BE49-F238E27FC236}">
                  <a16:creationId xmlns:a16="http://schemas.microsoft.com/office/drawing/2014/main" id="{3731DAF8-9383-ECD3-57CD-71F803226F65}"/>
                </a:ext>
              </a:extLst>
            </p:cNvPr>
            <p:cNvSpPr/>
            <p:nvPr/>
          </p:nvSpPr>
          <p:spPr>
            <a:xfrm>
              <a:off x="1046786" y="3552237"/>
              <a:ext cx="53088" cy="53088"/>
            </a:xfrm>
            <a:custGeom>
              <a:avLst/>
              <a:gdLst/>
              <a:ahLst/>
              <a:cxnLst/>
              <a:rect l="l" t="t" r="r" b="b"/>
              <a:pathLst>
                <a:path w="1668" h="1668" extrusionOk="0">
                  <a:moveTo>
                    <a:pt x="834" y="346"/>
                  </a:moveTo>
                  <a:cubicBezTo>
                    <a:pt x="1096" y="346"/>
                    <a:pt x="1322" y="572"/>
                    <a:pt x="1322" y="834"/>
                  </a:cubicBezTo>
                  <a:cubicBezTo>
                    <a:pt x="1322" y="1108"/>
                    <a:pt x="1096" y="1334"/>
                    <a:pt x="834" y="1334"/>
                  </a:cubicBezTo>
                  <a:cubicBezTo>
                    <a:pt x="560" y="1334"/>
                    <a:pt x="334" y="1108"/>
                    <a:pt x="334" y="834"/>
                  </a:cubicBezTo>
                  <a:cubicBezTo>
                    <a:pt x="334" y="572"/>
                    <a:pt x="560" y="346"/>
                    <a:pt x="834" y="346"/>
                  </a:cubicBezTo>
                  <a:close/>
                  <a:moveTo>
                    <a:pt x="834" y="1"/>
                  </a:moveTo>
                  <a:cubicBezTo>
                    <a:pt x="369" y="1"/>
                    <a:pt x="0" y="382"/>
                    <a:pt x="0" y="834"/>
                  </a:cubicBezTo>
                  <a:cubicBezTo>
                    <a:pt x="0" y="1299"/>
                    <a:pt x="369" y="1668"/>
                    <a:pt x="834" y="1668"/>
                  </a:cubicBezTo>
                  <a:cubicBezTo>
                    <a:pt x="1286" y="1668"/>
                    <a:pt x="1667" y="1299"/>
                    <a:pt x="1667" y="834"/>
                  </a:cubicBezTo>
                  <a:cubicBezTo>
                    <a:pt x="1667" y="382"/>
                    <a:pt x="1286" y="1"/>
                    <a:pt x="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0393;p85">
              <a:extLst>
                <a:ext uri="{FF2B5EF4-FFF2-40B4-BE49-F238E27FC236}">
                  <a16:creationId xmlns:a16="http://schemas.microsoft.com/office/drawing/2014/main" id="{AF93DCEF-0BE1-1D2F-F2A4-13B31BDF4AC6}"/>
                </a:ext>
              </a:extLst>
            </p:cNvPr>
            <p:cNvSpPr/>
            <p:nvPr/>
          </p:nvSpPr>
          <p:spPr>
            <a:xfrm>
              <a:off x="984245" y="3485272"/>
              <a:ext cx="106527" cy="104999"/>
            </a:xfrm>
            <a:custGeom>
              <a:avLst/>
              <a:gdLst/>
              <a:ahLst/>
              <a:cxnLst/>
              <a:rect l="l" t="t" r="r" b="b"/>
              <a:pathLst>
                <a:path w="3347" h="3299" extrusionOk="0">
                  <a:moveTo>
                    <a:pt x="3160" y="0"/>
                  </a:moveTo>
                  <a:cubicBezTo>
                    <a:pt x="3117" y="0"/>
                    <a:pt x="3073" y="15"/>
                    <a:pt x="3037" y="45"/>
                  </a:cubicBezTo>
                  <a:lnTo>
                    <a:pt x="72" y="2998"/>
                  </a:lnTo>
                  <a:cubicBezTo>
                    <a:pt x="1" y="3081"/>
                    <a:pt x="1" y="3176"/>
                    <a:pt x="72" y="3236"/>
                  </a:cubicBezTo>
                  <a:cubicBezTo>
                    <a:pt x="108" y="3278"/>
                    <a:pt x="152" y="3298"/>
                    <a:pt x="196" y="3298"/>
                  </a:cubicBezTo>
                  <a:cubicBezTo>
                    <a:pt x="239" y="3298"/>
                    <a:pt x="280" y="3278"/>
                    <a:pt x="310" y="3236"/>
                  </a:cubicBezTo>
                  <a:lnTo>
                    <a:pt x="3275" y="283"/>
                  </a:lnTo>
                  <a:cubicBezTo>
                    <a:pt x="3346" y="200"/>
                    <a:pt x="3346" y="105"/>
                    <a:pt x="3275" y="45"/>
                  </a:cubicBezTo>
                  <a:cubicBezTo>
                    <a:pt x="3245" y="15"/>
                    <a:pt x="3203" y="0"/>
                    <a:pt x="31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0394;p85">
              <a:extLst>
                <a:ext uri="{FF2B5EF4-FFF2-40B4-BE49-F238E27FC236}">
                  <a16:creationId xmlns:a16="http://schemas.microsoft.com/office/drawing/2014/main" id="{E67A4305-9058-EF12-BE00-5787A615E6E5}"/>
                </a:ext>
              </a:extLst>
            </p:cNvPr>
            <p:cNvSpPr/>
            <p:nvPr/>
          </p:nvSpPr>
          <p:spPr>
            <a:xfrm>
              <a:off x="922850" y="3428715"/>
              <a:ext cx="223620" cy="223620"/>
            </a:xfrm>
            <a:custGeom>
              <a:avLst/>
              <a:gdLst/>
              <a:ahLst/>
              <a:cxnLst/>
              <a:rect l="l" t="t" r="r" b="b"/>
              <a:pathLst>
                <a:path w="7026" h="7026" extrusionOk="0">
                  <a:moveTo>
                    <a:pt x="3513" y="0"/>
                  </a:moveTo>
                  <a:cubicBezTo>
                    <a:pt x="1584" y="0"/>
                    <a:pt x="1" y="1584"/>
                    <a:pt x="1" y="3513"/>
                  </a:cubicBezTo>
                  <a:cubicBezTo>
                    <a:pt x="1" y="5453"/>
                    <a:pt x="1584" y="7025"/>
                    <a:pt x="3513" y="7025"/>
                  </a:cubicBezTo>
                  <a:cubicBezTo>
                    <a:pt x="5454" y="7025"/>
                    <a:pt x="7026" y="5453"/>
                    <a:pt x="7026" y="3513"/>
                  </a:cubicBezTo>
                  <a:cubicBezTo>
                    <a:pt x="7026" y="1834"/>
                    <a:pt x="5835" y="393"/>
                    <a:pt x="4204" y="60"/>
                  </a:cubicBezTo>
                  <a:cubicBezTo>
                    <a:pt x="4196" y="59"/>
                    <a:pt x="4188" y="58"/>
                    <a:pt x="4180" y="58"/>
                  </a:cubicBezTo>
                  <a:cubicBezTo>
                    <a:pt x="4095" y="58"/>
                    <a:pt x="4022" y="115"/>
                    <a:pt x="3989" y="191"/>
                  </a:cubicBezTo>
                  <a:cubicBezTo>
                    <a:pt x="3978" y="286"/>
                    <a:pt x="4037" y="369"/>
                    <a:pt x="4132" y="405"/>
                  </a:cubicBezTo>
                  <a:cubicBezTo>
                    <a:pt x="5597" y="703"/>
                    <a:pt x="6692" y="2001"/>
                    <a:pt x="6692" y="3513"/>
                  </a:cubicBezTo>
                  <a:cubicBezTo>
                    <a:pt x="6692" y="5251"/>
                    <a:pt x="5263" y="6680"/>
                    <a:pt x="3513" y="6680"/>
                  </a:cubicBezTo>
                  <a:cubicBezTo>
                    <a:pt x="1775" y="6680"/>
                    <a:pt x="346" y="5251"/>
                    <a:pt x="346" y="3513"/>
                  </a:cubicBezTo>
                  <a:cubicBezTo>
                    <a:pt x="346" y="1774"/>
                    <a:pt x="1775" y="346"/>
                    <a:pt x="3513" y="346"/>
                  </a:cubicBezTo>
                  <a:cubicBezTo>
                    <a:pt x="3608" y="346"/>
                    <a:pt x="3692" y="274"/>
                    <a:pt x="3692" y="167"/>
                  </a:cubicBezTo>
                  <a:cubicBezTo>
                    <a:pt x="3680" y="72"/>
                    <a:pt x="3608" y="0"/>
                    <a:pt x="351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0395;p85">
              <a:extLst>
                <a:ext uri="{FF2B5EF4-FFF2-40B4-BE49-F238E27FC236}">
                  <a16:creationId xmlns:a16="http://schemas.microsoft.com/office/drawing/2014/main" id="{60F7E9A3-6EAB-13DB-4F39-D8DD1C099822}"/>
                </a:ext>
              </a:extLst>
            </p:cNvPr>
            <p:cNvSpPr/>
            <p:nvPr/>
          </p:nvSpPr>
          <p:spPr>
            <a:xfrm>
              <a:off x="850092" y="3352934"/>
              <a:ext cx="369517" cy="375660"/>
            </a:xfrm>
            <a:custGeom>
              <a:avLst/>
              <a:gdLst/>
              <a:ahLst/>
              <a:cxnLst/>
              <a:rect l="l" t="t" r="r" b="b"/>
              <a:pathLst>
                <a:path w="11610" h="11803" extrusionOk="0">
                  <a:moveTo>
                    <a:pt x="5804" y="0"/>
                  </a:moveTo>
                  <a:cubicBezTo>
                    <a:pt x="5801" y="0"/>
                    <a:pt x="5799" y="0"/>
                    <a:pt x="5799" y="0"/>
                  </a:cubicBezTo>
                  <a:cubicBezTo>
                    <a:pt x="5585" y="0"/>
                    <a:pt x="5371" y="119"/>
                    <a:pt x="5252" y="310"/>
                  </a:cubicBezTo>
                  <a:lnTo>
                    <a:pt x="4573" y="1453"/>
                  </a:lnTo>
                  <a:cubicBezTo>
                    <a:pt x="4515" y="1551"/>
                    <a:pt x="4424" y="1605"/>
                    <a:pt x="4326" y="1605"/>
                  </a:cubicBezTo>
                  <a:cubicBezTo>
                    <a:pt x="4281" y="1605"/>
                    <a:pt x="4236" y="1594"/>
                    <a:pt x="4192" y="1572"/>
                  </a:cubicBezTo>
                  <a:lnTo>
                    <a:pt x="2977" y="1060"/>
                  </a:lnTo>
                  <a:cubicBezTo>
                    <a:pt x="2889" y="1020"/>
                    <a:pt x="2800" y="1002"/>
                    <a:pt x="2713" y="1002"/>
                  </a:cubicBezTo>
                  <a:cubicBezTo>
                    <a:pt x="2355" y="1002"/>
                    <a:pt x="2046" y="1312"/>
                    <a:pt x="2084" y="1715"/>
                  </a:cubicBezTo>
                  <a:lnTo>
                    <a:pt x="2204" y="3036"/>
                  </a:lnTo>
                  <a:cubicBezTo>
                    <a:pt x="2215" y="3179"/>
                    <a:pt x="2108" y="3322"/>
                    <a:pt x="1965" y="3346"/>
                  </a:cubicBezTo>
                  <a:lnTo>
                    <a:pt x="668" y="3643"/>
                  </a:lnTo>
                  <a:cubicBezTo>
                    <a:pt x="191" y="3751"/>
                    <a:pt x="1" y="4334"/>
                    <a:pt x="322" y="4703"/>
                  </a:cubicBezTo>
                  <a:lnTo>
                    <a:pt x="1203" y="5703"/>
                  </a:lnTo>
                  <a:cubicBezTo>
                    <a:pt x="1311" y="5822"/>
                    <a:pt x="1311" y="5989"/>
                    <a:pt x="1203" y="6084"/>
                  </a:cubicBezTo>
                  <a:lnTo>
                    <a:pt x="322" y="7084"/>
                  </a:lnTo>
                  <a:cubicBezTo>
                    <a:pt x="179" y="7263"/>
                    <a:pt x="132" y="7489"/>
                    <a:pt x="191" y="7715"/>
                  </a:cubicBezTo>
                  <a:cubicBezTo>
                    <a:pt x="263" y="7930"/>
                    <a:pt x="441" y="8084"/>
                    <a:pt x="668" y="8144"/>
                  </a:cubicBezTo>
                  <a:lnTo>
                    <a:pt x="1025" y="8215"/>
                  </a:lnTo>
                  <a:cubicBezTo>
                    <a:pt x="1033" y="8216"/>
                    <a:pt x="1041" y="8217"/>
                    <a:pt x="1049" y="8217"/>
                  </a:cubicBezTo>
                  <a:cubicBezTo>
                    <a:pt x="1136" y="8217"/>
                    <a:pt x="1217" y="8161"/>
                    <a:pt x="1239" y="8084"/>
                  </a:cubicBezTo>
                  <a:cubicBezTo>
                    <a:pt x="1251" y="7989"/>
                    <a:pt x="1192" y="7894"/>
                    <a:pt x="1096" y="7870"/>
                  </a:cubicBezTo>
                  <a:lnTo>
                    <a:pt x="739" y="7799"/>
                  </a:lnTo>
                  <a:cubicBezTo>
                    <a:pt x="644" y="7775"/>
                    <a:pt x="560" y="7692"/>
                    <a:pt x="525" y="7608"/>
                  </a:cubicBezTo>
                  <a:cubicBezTo>
                    <a:pt x="489" y="7501"/>
                    <a:pt x="501" y="7394"/>
                    <a:pt x="584" y="7322"/>
                  </a:cubicBezTo>
                  <a:lnTo>
                    <a:pt x="1453" y="6322"/>
                  </a:lnTo>
                  <a:cubicBezTo>
                    <a:pt x="1668" y="6084"/>
                    <a:pt x="1668" y="5715"/>
                    <a:pt x="1453" y="5477"/>
                  </a:cubicBezTo>
                  <a:lnTo>
                    <a:pt x="584" y="4477"/>
                  </a:lnTo>
                  <a:cubicBezTo>
                    <a:pt x="430" y="4322"/>
                    <a:pt x="525" y="4048"/>
                    <a:pt x="739" y="3989"/>
                  </a:cubicBezTo>
                  <a:lnTo>
                    <a:pt x="2037" y="3691"/>
                  </a:lnTo>
                  <a:cubicBezTo>
                    <a:pt x="2346" y="3620"/>
                    <a:pt x="2573" y="3322"/>
                    <a:pt x="2549" y="3012"/>
                  </a:cubicBezTo>
                  <a:lnTo>
                    <a:pt x="2430" y="1679"/>
                  </a:lnTo>
                  <a:cubicBezTo>
                    <a:pt x="2410" y="1503"/>
                    <a:pt x="2559" y="1359"/>
                    <a:pt x="2731" y="1359"/>
                  </a:cubicBezTo>
                  <a:cubicBezTo>
                    <a:pt x="2769" y="1359"/>
                    <a:pt x="2808" y="1366"/>
                    <a:pt x="2846" y="1381"/>
                  </a:cubicBezTo>
                  <a:lnTo>
                    <a:pt x="4061" y="1905"/>
                  </a:lnTo>
                  <a:cubicBezTo>
                    <a:pt x="4143" y="1941"/>
                    <a:pt x="4229" y="1958"/>
                    <a:pt x="4314" y="1958"/>
                  </a:cubicBezTo>
                  <a:cubicBezTo>
                    <a:pt x="4536" y="1958"/>
                    <a:pt x="4750" y="1841"/>
                    <a:pt x="4871" y="1643"/>
                  </a:cubicBezTo>
                  <a:lnTo>
                    <a:pt x="5549" y="488"/>
                  </a:lnTo>
                  <a:cubicBezTo>
                    <a:pt x="5609" y="393"/>
                    <a:pt x="5710" y="345"/>
                    <a:pt x="5810" y="345"/>
                  </a:cubicBezTo>
                  <a:cubicBezTo>
                    <a:pt x="5909" y="345"/>
                    <a:pt x="6008" y="393"/>
                    <a:pt x="6061" y="488"/>
                  </a:cubicBezTo>
                  <a:lnTo>
                    <a:pt x="6740" y="1643"/>
                  </a:lnTo>
                  <a:cubicBezTo>
                    <a:pt x="6861" y="1842"/>
                    <a:pt x="7077" y="1953"/>
                    <a:pt x="7300" y="1953"/>
                  </a:cubicBezTo>
                  <a:cubicBezTo>
                    <a:pt x="7383" y="1953"/>
                    <a:pt x="7468" y="1938"/>
                    <a:pt x="7549" y="1905"/>
                  </a:cubicBezTo>
                  <a:lnTo>
                    <a:pt x="8764" y="1381"/>
                  </a:lnTo>
                  <a:cubicBezTo>
                    <a:pt x="8802" y="1366"/>
                    <a:pt x="8841" y="1359"/>
                    <a:pt x="8878" y="1359"/>
                  </a:cubicBezTo>
                  <a:cubicBezTo>
                    <a:pt x="9048" y="1359"/>
                    <a:pt x="9190" y="1503"/>
                    <a:pt x="9181" y="1679"/>
                  </a:cubicBezTo>
                  <a:lnTo>
                    <a:pt x="9062" y="3012"/>
                  </a:lnTo>
                  <a:cubicBezTo>
                    <a:pt x="9038" y="3334"/>
                    <a:pt x="9240" y="3620"/>
                    <a:pt x="9574" y="3691"/>
                  </a:cubicBezTo>
                  <a:lnTo>
                    <a:pt x="10859" y="3989"/>
                  </a:lnTo>
                  <a:cubicBezTo>
                    <a:pt x="11086" y="4036"/>
                    <a:pt x="11181" y="4298"/>
                    <a:pt x="11026" y="4477"/>
                  </a:cubicBezTo>
                  <a:lnTo>
                    <a:pt x="10145" y="5477"/>
                  </a:lnTo>
                  <a:cubicBezTo>
                    <a:pt x="9943" y="5715"/>
                    <a:pt x="9943" y="6084"/>
                    <a:pt x="10145" y="6322"/>
                  </a:cubicBezTo>
                  <a:lnTo>
                    <a:pt x="11026" y="7322"/>
                  </a:lnTo>
                  <a:cubicBezTo>
                    <a:pt x="11181" y="7489"/>
                    <a:pt x="11086" y="7751"/>
                    <a:pt x="10859" y="7811"/>
                  </a:cubicBezTo>
                  <a:lnTo>
                    <a:pt x="9574" y="8108"/>
                  </a:lnTo>
                  <a:cubicBezTo>
                    <a:pt x="9252" y="8192"/>
                    <a:pt x="9038" y="8489"/>
                    <a:pt x="9062" y="8799"/>
                  </a:cubicBezTo>
                  <a:lnTo>
                    <a:pt x="9181" y="10120"/>
                  </a:lnTo>
                  <a:cubicBezTo>
                    <a:pt x="9190" y="10302"/>
                    <a:pt x="9054" y="10445"/>
                    <a:pt x="8889" y="10445"/>
                  </a:cubicBezTo>
                  <a:cubicBezTo>
                    <a:pt x="8848" y="10445"/>
                    <a:pt x="8806" y="10437"/>
                    <a:pt x="8764" y="10418"/>
                  </a:cubicBezTo>
                  <a:lnTo>
                    <a:pt x="7549" y="9894"/>
                  </a:lnTo>
                  <a:cubicBezTo>
                    <a:pt x="7468" y="9858"/>
                    <a:pt x="7382" y="9841"/>
                    <a:pt x="7298" y="9841"/>
                  </a:cubicBezTo>
                  <a:cubicBezTo>
                    <a:pt x="7076" y="9841"/>
                    <a:pt x="6861" y="9961"/>
                    <a:pt x="6740" y="10168"/>
                  </a:cubicBezTo>
                  <a:lnTo>
                    <a:pt x="6061" y="11311"/>
                  </a:lnTo>
                  <a:cubicBezTo>
                    <a:pt x="6002" y="11406"/>
                    <a:pt x="5900" y="11454"/>
                    <a:pt x="5801" y="11454"/>
                  </a:cubicBezTo>
                  <a:cubicBezTo>
                    <a:pt x="5701" y="11454"/>
                    <a:pt x="5603" y="11406"/>
                    <a:pt x="5549" y="11311"/>
                  </a:cubicBezTo>
                  <a:lnTo>
                    <a:pt x="4871" y="10168"/>
                  </a:lnTo>
                  <a:cubicBezTo>
                    <a:pt x="4749" y="9960"/>
                    <a:pt x="4533" y="9846"/>
                    <a:pt x="4309" y="9846"/>
                  </a:cubicBezTo>
                  <a:cubicBezTo>
                    <a:pt x="4226" y="9846"/>
                    <a:pt x="4142" y="9862"/>
                    <a:pt x="4061" y="9894"/>
                  </a:cubicBezTo>
                  <a:lnTo>
                    <a:pt x="2846" y="10418"/>
                  </a:lnTo>
                  <a:cubicBezTo>
                    <a:pt x="2804" y="10437"/>
                    <a:pt x="2762" y="10445"/>
                    <a:pt x="2721" y="10445"/>
                  </a:cubicBezTo>
                  <a:cubicBezTo>
                    <a:pt x="2553" y="10445"/>
                    <a:pt x="2411" y="10302"/>
                    <a:pt x="2430" y="10120"/>
                  </a:cubicBezTo>
                  <a:lnTo>
                    <a:pt x="2549" y="8799"/>
                  </a:lnTo>
                  <a:cubicBezTo>
                    <a:pt x="2573" y="8465"/>
                    <a:pt x="2370" y="8192"/>
                    <a:pt x="2037" y="8108"/>
                  </a:cubicBezTo>
                  <a:lnTo>
                    <a:pt x="1727" y="8037"/>
                  </a:lnTo>
                  <a:cubicBezTo>
                    <a:pt x="1719" y="8036"/>
                    <a:pt x="1711" y="8035"/>
                    <a:pt x="1703" y="8035"/>
                  </a:cubicBezTo>
                  <a:cubicBezTo>
                    <a:pt x="1616" y="8035"/>
                    <a:pt x="1535" y="8092"/>
                    <a:pt x="1513" y="8168"/>
                  </a:cubicBezTo>
                  <a:cubicBezTo>
                    <a:pt x="1501" y="8263"/>
                    <a:pt x="1561" y="8370"/>
                    <a:pt x="1656" y="8382"/>
                  </a:cubicBezTo>
                  <a:lnTo>
                    <a:pt x="1965" y="8454"/>
                  </a:lnTo>
                  <a:cubicBezTo>
                    <a:pt x="2108" y="8489"/>
                    <a:pt x="2204" y="8620"/>
                    <a:pt x="2204" y="8763"/>
                  </a:cubicBezTo>
                  <a:lnTo>
                    <a:pt x="2084" y="10097"/>
                  </a:lnTo>
                  <a:cubicBezTo>
                    <a:pt x="2046" y="10493"/>
                    <a:pt x="2361" y="10804"/>
                    <a:pt x="2723" y="10804"/>
                  </a:cubicBezTo>
                  <a:cubicBezTo>
                    <a:pt x="2807" y="10804"/>
                    <a:pt x="2893" y="10787"/>
                    <a:pt x="2977" y="10751"/>
                  </a:cubicBezTo>
                  <a:lnTo>
                    <a:pt x="4192" y="10228"/>
                  </a:lnTo>
                  <a:cubicBezTo>
                    <a:pt x="4230" y="10212"/>
                    <a:pt x="4269" y="10204"/>
                    <a:pt x="4308" y="10204"/>
                  </a:cubicBezTo>
                  <a:cubicBezTo>
                    <a:pt x="4413" y="10204"/>
                    <a:pt x="4512" y="10259"/>
                    <a:pt x="4573" y="10347"/>
                  </a:cubicBezTo>
                  <a:lnTo>
                    <a:pt x="5252" y="11490"/>
                  </a:lnTo>
                  <a:cubicBezTo>
                    <a:pt x="5377" y="11698"/>
                    <a:pt x="5594" y="11802"/>
                    <a:pt x="5810" y="11802"/>
                  </a:cubicBezTo>
                  <a:cubicBezTo>
                    <a:pt x="6025" y="11802"/>
                    <a:pt x="6240" y="11698"/>
                    <a:pt x="6359" y="11490"/>
                  </a:cubicBezTo>
                  <a:lnTo>
                    <a:pt x="7037" y="10347"/>
                  </a:lnTo>
                  <a:cubicBezTo>
                    <a:pt x="7088" y="10253"/>
                    <a:pt x="7188" y="10202"/>
                    <a:pt x="7288" y="10202"/>
                  </a:cubicBezTo>
                  <a:cubicBezTo>
                    <a:pt x="7328" y="10202"/>
                    <a:pt x="7369" y="10211"/>
                    <a:pt x="7407" y="10228"/>
                  </a:cubicBezTo>
                  <a:lnTo>
                    <a:pt x="8633" y="10751"/>
                  </a:lnTo>
                  <a:cubicBezTo>
                    <a:pt x="8715" y="10787"/>
                    <a:pt x="8800" y="10804"/>
                    <a:pt x="8883" y="10804"/>
                  </a:cubicBezTo>
                  <a:cubicBezTo>
                    <a:pt x="9242" y="10804"/>
                    <a:pt x="9565" y="10493"/>
                    <a:pt x="9526" y="10097"/>
                  </a:cubicBezTo>
                  <a:lnTo>
                    <a:pt x="9407" y="8763"/>
                  </a:lnTo>
                  <a:cubicBezTo>
                    <a:pt x="9395" y="8620"/>
                    <a:pt x="9490" y="8489"/>
                    <a:pt x="9645" y="8454"/>
                  </a:cubicBezTo>
                  <a:lnTo>
                    <a:pt x="10943" y="8156"/>
                  </a:lnTo>
                  <a:cubicBezTo>
                    <a:pt x="11419" y="8049"/>
                    <a:pt x="11609" y="7477"/>
                    <a:pt x="11276" y="7096"/>
                  </a:cubicBezTo>
                  <a:lnTo>
                    <a:pt x="10407" y="6084"/>
                  </a:lnTo>
                  <a:cubicBezTo>
                    <a:pt x="10300" y="5965"/>
                    <a:pt x="10300" y="5810"/>
                    <a:pt x="10407" y="5703"/>
                  </a:cubicBezTo>
                  <a:lnTo>
                    <a:pt x="11276" y="4703"/>
                  </a:lnTo>
                  <a:cubicBezTo>
                    <a:pt x="11609" y="4334"/>
                    <a:pt x="11419" y="3751"/>
                    <a:pt x="10943" y="3643"/>
                  </a:cubicBezTo>
                  <a:lnTo>
                    <a:pt x="9645" y="3346"/>
                  </a:lnTo>
                  <a:cubicBezTo>
                    <a:pt x="9490" y="3322"/>
                    <a:pt x="9407" y="3179"/>
                    <a:pt x="9407" y="3036"/>
                  </a:cubicBezTo>
                  <a:lnTo>
                    <a:pt x="9526" y="1715"/>
                  </a:lnTo>
                  <a:cubicBezTo>
                    <a:pt x="9564" y="1312"/>
                    <a:pt x="9248" y="1002"/>
                    <a:pt x="8893" y="1002"/>
                  </a:cubicBezTo>
                  <a:cubicBezTo>
                    <a:pt x="8807" y="1002"/>
                    <a:pt x="8719" y="1020"/>
                    <a:pt x="8633" y="1060"/>
                  </a:cubicBezTo>
                  <a:lnTo>
                    <a:pt x="7407" y="1572"/>
                  </a:lnTo>
                  <a:cubicBezTo>
                    <a:pt x="7371" y="1588"/>
                    <a:pt x="7334" y="1595"/>
                    <a:pt x="7296" y="1595"/>
                  </a:cubicBezTo>
                  <a:cubicBezTo>
                    <a:pt x="7193" y="1595"/>
                    <a:pt x="7090" y="1540"/>
                    <a:pt x="7037" y="1453"/>
                  </a:cubicBezTo>
                  <a:lnTo>
                    <a:pt x="6359" y="310"/>
                  </a:lnTo>
                  <a:cubicBezTo>
                    <a:pt x="6170" y="10"/>
                    <a:pt x="5848" y="0"/>
                    <a:pt x="580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1008;p86">
            <a:extLst>
              <a:ext uri="{FF2B5EF4-FFF2-40B4-BE49-F238E27FC236}">
                <a16:creationId xmlns:a16="http://schemas.microsoft.com/office/drawing/2014/main" id="{4415CBF0-3006-16F6-6858-8BE2905F0C7C}"/>
              </a:ext>
            </a:extLst>
          </p:cNvPr>
          <p:cNvGrpSpPr/>
          <p:nvPr/>
        </p:nvGrpSpPr>
        <p:grpSpPr>
          <a:xfrm>
            <a:off x="3296200" y="1540506"/>
            <a:ext cx="370814" cy="307359"/>
            <a:chOff x="1737258" y="1988371"/>
            <a:chExt cx="370814" cy="307359"/>
          </a:xfrm>
        </p:grpSpPr>
        <p:sp>
          <p:nvSpPr>
            <p:cNvPr id="124" name="Google Shape;11009;p86">
              <a:extLst>
                <a:ext uri="{FF2B5EF4-FFF2-40B4-BE49-F238E27FC236}">
                  <a16:creationId xmlns:a16="http://schemas.microsoft.com/office/drawing/2014/main" id="{66F26BA9-9A5A-49CA-0068-0DD17E9C9861}"/>
                </a:ext>
              </a:extLst>
            </p:cNvPr>
            <p:cNvSpPr/>
            <p:nvPr/>
          </p:nvSpPr>
          <p:spPr>
            <a:xfrm>
              <a:off x="1963200" y="1996607"/>
              <a:ext cx="144873" cy="144492"/>
            </a:xfrm>
            <a:custGeom>
              <a:avLst/>
              <a:gdLst/>
              <a:ahLst/>
              <a:cxnLst/>
              <a:rect l="l" t="t" r="r" b="b"/>
              <a:pathLst>
                <a:path w="4573" h="4561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lnTo>
                    <a:pt x="1" y="4393"/>
                  </a:lnTo>
                  <a:cubicBezTo>
                    <a:pt x="1" y="4489"/>
                    <a:pt x="72" y="4560"/>
                    <a:pt x="167" y="4560"/>
                  </a:cubicBezTo>
                  <a:lnTo>
                    <a:pt x="4394" y="4560"/>
                  </a:lnTo>
                  <a:cubicBezTo>
                    <a:pt x="4477" y="4560"/>
                    <a:pt x="4561" y="4489"/>
                    <a:pt x="4561" y="4393"/>
                  </a:cubicBezTo>
                  <a:cubicBezTo>
                    <a:pt x="4573" y="3596"/>
                    <a:pt x="4346" y="2798"/>
                    <a:pt x="3930" y="2119"/>
                  </a:cubicBezTo>
                  <a:cubicBezTo>
                    <a:pt x="3897" y="2070"/>
                    <a:pt x="3842" y="2038"/>
                    <a:pt x="3780" y="2038"/>
                  </a:cubicBezTo>
                  <a:cubicBezTo>
                    <a:pt x="3751" y="2038"/>
                    <a:pt x="3721" y="2045"/>
                    <a:pt x="3692" y="2060"/>
                  </a:cubicBezTo>
                  <a:cubicBezTo>
                    <a:pt x="3620" y="2107"/>
                    <a:pt x="3584" y="2203"/>
                    <a:pt x="3632" y="2298"/>
                  </a:cubicBezTo>
                  <a:cubicBezTo>
                    <a:pt x="3989" y="2881"/>
                    <a:pt x="4204" y="3548"/>
                    <a:pt x="4227" y="4227"/>
                  </a:cubicBezTo>
                  <a:lnTo>
                    <a:pt x="346" y="4227"/>
                  </a:lnTo>
                  <a:lnTo>
                    <a:pt x="346" y="345"/>
                  </a:lnTo>
                  <a:cubicBezTo>
                    <a:pt x="1465" y="393"/>
                    <a:pt x="2513" y="893"/>
                    <a:pt x="3251" y="1762"/>
                  </a:cubicBezTo>
                  <a:cubicBezTo>
                    <a:pt x="3276" y="1800"/>
                    <a:pt x="3317" y="1817"/>
                    <a:pt x="3363" y="1817"/>
                  </a:cubicBezTo>
                  <a:cubicBezTo>
                    <a:pt x="3404" y="1817"/>
                    <a:pt x="3449" y="1803"/>
                    <a:pt x="3489" y="1774"/>
                  </a:cubicBezTo>
                  <a:cubicBezTo>
                    <a:pt x="3561" y="1715"/>
                    <a:pt x="3561" y="1607"/>
                    <a:pt x="3501" y="1536"/>
                  </a:cubicBezTo>
                  <a:cubicBezTo>
                    <a:pt x="2668" y="560"/>
                    <a:pt x="144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1010;p86">
              <a:extLst>
                <a:ext uri="{FF2B5EF4-FFF2-40B4-BE49-F238E27FC236}">
                  <a16:creationId xmlns:a16="http://schemas.microsoft.com/office/drawing/2014/main" id="{40D29C21-5A4F-3336-C4D4-3942798C3C4C}"/>
                </a:ext>
              </a:extLst>
            </p:cNvPr>
            <p:cNvSpPr/>
            <p:nvPr/>
          </p:nvSpPr>
          <p:spPr>
            <a:xfrm>
              <a:off x="1737258" y="1988371"/>
              <a:ext cx="350064" cy="307359"/>
            </a:xfrm>
            <a:custGeom>
              <a:avLst/>
              <a:gdLst/>
              <a:ahLst/>
              <a:cxnLst/>
              <a:rect l="l" t="t" r="r" b="b"/>
              <a:pathLst>
                <a:path w="11050" h="9702" extrusionOk="0">
                  <a:moveTo>
                    <a:pt x="10693" y="5463"/>
                  </a:moveTo>
                  <a:cubicBezTo>
                    <a:pt x="10621" y="7320"/>
                    <a:pt x="9323" y="8868"/>
                    <a:pt x="7502" y="9249"/>
                  </a:cubicBezTo>
                  <a:lnTo>
                    <a:pt x="6847" y="5463"/>
                  </a:lnTo>
                  <a:close/>
                  <a:moveTo>
                    <a:pt x="6537" y="5666"/>
                  </a:moveTo>
                  <a:lnTo>
                    <a:pt x="7168" y="9297"/>
                  </a:lnTo>
                  <a:cubicBezTo>
                    <a:pt x="7002" y="9345"/>
                    <a:pt x="6823" y="9345"/>
                    <a:pt x="6656" y="9345"/>
                  </a:cubicBezTo>
                  <a:cubicBezTo>
                    <a:pt x="5752" y="9345"/>
                    <a:pt x="4859" y="9035"/>
                    <a:pt x="4144" y="8463"/>
                  </a:cubicBezTo>
                  <a:lnTo>
                    <a:pt x="4561" y="7975"/>
                  </a:lnTo>
                  <a:lnTo>
                    <a:pt x="6537" y="5666"/>
                  </a:lnTo>
                  <a:close/>
                  <a:moveTo>
                    <a:pt x="2413" y="1"/>
                  </a:moveTo>
                  <a:cubicBezTo>
                    <a:pt x="1956" y="1"/>
                    <a:pt x="1511" y="130"/>
                    <a:pt x="1120" y="379"/>
                  </a:cubicBezTo>
                  <a:cubicBezTo>
                    <a:pt x="394" y="879"/>
                    <a:pt x="1" y="1725"/>
                    <a:pt x="96" y="2582"/>
                  </a:cubicBezTo>
                  <a:cubicBezTo>
                    <a:pt x="107" y="2670"/>
                    <a:pt x="169" y="2738"/>
                    <a:pt x="264" y="2738"/>
                  </a:cubicBezTo>
                  <a:cubicBezTo>
                    <a:pt x="271" y="2738"/>
                    <a:pt x="279" y="2737"/>
                    <a:pt x="287" y="2737"/>
                  </a:cubicBezTo>
                  <a:cubicBezTo>
                    <a:pt x="382" y="2725"/>
                    <a:pt x="453" y="2641"/>
                    <a:pt x="441" y="2546"/>
                  </a:cubicBezTo>
                  <a:cubicBezTo>
                    <a:pt x="346" y="1796"/>
                    <a:pt x="691" y="1070"/>
                    <a:pt x="1311" y="653"/>
                  </a:cubicBezTo>
                  <a:cubicBezTo>
                    <a:pt x="1648" y="431"/>
                    <a:pt x="2026" y="315"/>
                    <a:pt x="2408" y="315"/>
                  </a:cubicBezTo>
                  <a:cubicBezTo>
                    <a:pt x="2538" y="315"/>
                    <a:pt x="2669" y="328"/>
                    <a:pt x="2799" y="355"/>
                  </a:cubicBezTo>
                  <a:cubicBezTo>
                    <a:pt x="3323" y="462"/>
                    <a:pt x="3775" y="760"/>
                    <a:pt x="4073" y="1201"/>
                  </a:cubicBezTo>
                  <a:cubicBezTo>
                    <a:pt x="4168" y="1367"/>
                    <a:pt x="4263" y="1534"/>
                    <a:pt x="4311" y="1713"/>
                  </a:cubicBezTo>
                  <a:lnTo>
                    <a:pt x="4311" y="1725"/>
                  </a:lnTo>
                  <a:cubicBezTo>
                    <a:pt x="4501" y="2332"/>
                    <a:pt x="4382" y="3022"/>
                    <a:pt x="3966" y="3558"/>
                  </a:cubicBezTo>
                  <a:cubicBezTo>
                    <a:pt x="3930" y="3582"/>
                    <a:pt x="3918" y="3630"/>
                    <a:pt x="3930" y="3677"/>
                  </a:cubicBezTo>
                  <a:lnTo>
                    <a:pt x="3978" y="4665"/>
                  </a:lnTo>
                  <a:lnTo>
                    <a:pt x="3073" y="4249"/>
                  </a:lnTo>
                  <a:cubicBezTo>
                    <a:pt x="3037" y="4237"/>
                    <a:pt x="3001" y="4237"/>
                    <a:pt x="2954" y="4237"/>
                  </a:cubicBezTo>
                  <a:cubicBezTo>
                    <a:pt x="2799" y="4284"/>
                    <a:pt x="2644" y="4308"/>
                    <a:pt x="2489" y="4308"/>
                  </a:cubicBezTo>
                  <a:lnTo>
                    <a:pt x="2465" y="4308"/>
                  </a:lnTo>
                  <a:cubicBezTo>
                    <a:pt x="2442" y="4309"/>
                    <a:pt x="2418" y="4309"/>
                    <a:pt x="2395" y="4309"/>
                  </a:cubicBezTo>
                  <a:cubicBezTo>
                    <a:pt x="1742" y="4309"/>
                    <a:pt x="1119" y="3991"/>
                    <a:pt x="751" y="3439"/>
                  </a:cubicBezTo>
                  <a:cubicBezTo>
                    <a:pt x="691" y="3344"/>
                    <a:pt x="644" y="3272"/>
                    <a:pt x="596" y="3177"/>
                  </a:cubicBezTo>
                  <a:cubicBezTo>
                    <a:pt x="571" y="3119"/>
                    <a:pt x="512" y="3084"/>
                    <a:pt x="454" y="3084"/>
                  </a:cubicBezTo>
                  <a:cubicBezTo>
                    <a:pt x="429" y="3084"/>
                    <a:pt x="404" y="3091"/>
                    <a:pt x="382" y="3106"/>
                  </a:cubicBezTo>
                  <a:cubicBezTo>
                    <a:pt x="287" y="3153"/>
                    <a:pt x="263" y="3260"/>
                    <a:pt x="298" y="3332"/>
                  </a:cubicBezTo>
                  <a:cubicBezTo>
                    <a:pt x="346" y="3439"/>
                    <a:pt x="406" y="3534"/>
                    <a:pt x="477" y="3630"/>
                  </a:cubicBezTo>
                  <a:cubicBezTo>
                    <a:pt x="894" y="4249"/>
                    <a:pt x="1584" y="4630"/>
                    <a:pt x="2299" y="4653"/>
                  </a:cubicBezTo>
                  <a:cubicBezTo>
                    <a:pt x="2263" y="4868"/>
                    <a:pt x="2251" y="5082"/>
                    <a:pt x="2251" y="5308"/>
                  </a:cubicBezTo>
                  <a:cubicBezTo>
                    <a:pt x="2251" y="5916"/>
                    <a:pt x="2370" y="6499"/>
                    <a:pt x="2608" y="7047"/>
                  </a:cubicBezTo>
                  <a:cubicBezTo>
                    <a:pt x="2632" y="7106"/>
                    <a:pt x="2692" y="7154"/>
                    <a:pt x="2751" y="7154"/>
                  </a:cubicBezTo>
                  <a:cubicBezTo>
                    <a:pt x="2787" y="7154"/>
                    <a:pt x="2799" y="7154"/>
                    <a:pt x="2835" y="7142"/>
                  </a:cubicBezTo>
                  <a:cubicBezTo>
                    <a:pt x="2918" y="7094"/>
                    <a:pt x="2954" y="7011"/>
                    <a:pt x="2918" y="6916"/>
                  </a:cubicBezTo>
                  <a:cubicBezTo>
                    <a:pt x="2692" y="6416"/>
                    <a:pt x="2596" y="5868"/>
                    <a:pt x="2596" y="5308"/>
                  </a:cubicBezTo>
                  <a:cubicBezTo>
                    <a:pt x="2596" y="5082"/>
                    <a:pt x="2608" y="4856"/>
                    <a:pt x="2656" y="4653"/>
                  </a:cubicBezTo>
                  <a:cubicBezTo>
                    <a:pt x="2775" y="4642"/>
                    <a:pt x="2894" y="4630"/>
                    <a:pt x="3013" y="4594"/>
                  </a:cubicBezTo>
                  <a:lnTo>
                    <a:pt x="4108" y="5118"/>
                  </a:lnTo>
                  <a:cubicBezTo>
                    <a:pt x="4144" y="5130"/>
                    <a:pt x="4156" y="5130"/>
                    <a:pt x="4180" y="5130"/>
                  </a:cubicBezTo>
                  <a:cubicBezTo>
                    <a:pt x="4216" y="5130"/>
                    <a:pt x="4239" y="5118"/>
                    <a:pt x="4275" y="5106"/>
                  </a:cubicBezTo>
                  <a:cubicBezTo>
                    <a:pt x="4323" y="5070"/>
                    <a:pt x="4347" y="5011"/>
                    <a:pt x="4347" y="4951"/>
                  </a:cubicBezTo>
                  <a:lnTo>
                    <a:pt x="4287" y="3737"/>
                  </a:lnTo>
                  <a:cubicBezTo>
                    <a:pt x="4716" y="3153"/>
                    <a:pt x="4859" y="2439"/>
                    <a:pt x="4692" y="1772"/>
                  </a:cubicBezTo>
                  <a:cubicBezTo>
                    <a:pt x="5240" y="1475"/>
                    <a:pt x="5847" y="1296"/>
                    <a:pt x="6478" y="1260"/>
                  </a:cubicBezTo>
                  <a:lnTo>
                    <a:pt x="6478" y="5249"/>
                  </a:lnTo>
                  <a:lnTo>
                    <a:pt x="4787" y="7201"/>
                  </a:lnTo>
                  <a:lnTo>
                    <a:pt x="3870" y="8261"/>
                  </a:lnTo>
                  <a:cubicBezTo>
                    <a:pt x="3632" y="8035"/>
                    <a:pt x="3406" y="7785"/>
                    <a:pt x="3239" y="7499"/>
                  </a:cubicBezTo>
                  <a:cubicBezTo>
                    <a:pt x="3208" y="7453"/>
                    <a:pt x="3152" y="7421"/>
                    <a:pt x="3091" y="7421"/>
                  </a:cubicBezTo>
                  <a:cubicBezTo>
                    <a:pt x="3058" y="7421"/>
                    <a:pt x="3023" y="7431"/>
                    <a:pt x="2989" y="7451"/>
                  </a:cubicBezTo>
                  <a:cubicBezTo>
                    <a:pt x="2918" y="7499"/>
                    <a:pt x="2894" y="7606"/>
                    <a:pt x="2954" y="7690"/>
                  </a:cubicBezTo>
                  <a:cubicBezTo>
                    <a:pt x="3168" y="8047"/>
                    <a:pt x="3454" y="8356"/>
                    <a:pt x="3763" y="8642"/>
                  </a:cubicBezTo>
                  <a:cubicBezTo>
                    <a:pt x="4561" y="9333"/>
                    <a:pt x="5585" y="9702"/>
                    <a:pt x="6645" y="9702"/>
                  </a:cubicBezTo>
                  <a:cubicBezTo>
                    <a:pt x="6895" y="9702"/>
                    <a:pt x="7145" y="9690"/>
                    <a:pt x="7383" y="9642"/>
                  </a:cubicBezTo>
                  <a:cubicBezTo>
                    <a:pt x="8395" y="9464"/>
                    <a:pt x="9323" y="8940"/>
                    <a:pt x="9990" y="8154"/>
                  </a:cubicBezTo>
                  <a:cubicBezTo>
                    <a:pt x="10657" y="7368"/>
                    <a:pt x="11026" y="6356"/>
                    <a:pt x="11026" y="5308"/>
                  </a:cubicBezTo>
                  <a:cubicBezTo>
                    <a:pt x="11050" y="5201"/>
                    <a:pt x="10978" y="5130"/>
                    <a:pt x="10871" y="5130"/>
                  </a:cubicBezTo>
                  <a:lnTo>
                    <a:pt x="6823" y="5130"/>
                  </a:lnTo>
                  <a:lnTo>
                    <a:pt x="6823" y="1082"/>
                  </a:lnTo>
                  <a:cubicBezTo>
                    <a:pt x="6823" y="998"/>
                    <a:pt x="6752" y="915"/>
                    <a:pt x="6656" y="915"/>
                  </a:cubicBezTo>
                  <a:cubicBezTo>
                    <a:pt x="5930" y="915"/>
                    <a:pt x="5228" y="1094"/>
                    <a:pt x="4585" y="1439"/>
                  </a:cubicBezTo>
                  <a:cubicBezTo>
                    <a:pt x="4525" y="1308"/>
                    <a:pt x="4454" y="1177"/>
                    <a:pt x="4370" y="1034"/>
                  </a:cubicBezTo>
                  <a:cubicBezTo>
                    <a:pt x="4025" y="522"/>
                    <a:pt x="3489" y="177"/>
                    <a:pt x="2882" y="46"/>
                  </a:cubicBezTo>
                  <a:cubicBezTo>
                    <a:pt x="2725" y="16"/>
                    <a:pt x="2569" y="1"/>
                    <a:pt x="24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1011;p86">
              <a:extLst>
                <a:ext uri="{FF2B5EF4-FFF2-40B4-BE49-F238E27FC236}">
                  <a16:creationId xmlns:a16="http://schemas.microsoft.com/office/drawing/2014/main" id="{A9C57197-E4A7-9FE7-D942-ACF81464CCF0}"/>
                </a:ext>
              </a:extLst>
            </p:cNvPr>
            <p:cNvSpPr/>
            <p:nvPr/>
          </p:nvSpPr>
          <p:spPr>
            <a:xfrm>
              <a:off x="1799129" y="2040738"/>
              <a:ext cx="28322" cy="53571"/>
            </a:xfrm>
            <a:custGeom>
              <a:avLst/>
              <a:gdLst/>
              <a:ahLst/>
              <a:cxnLst/>
              <a:rect l="l" t="t" r="r" b="b"/>
              <a:pathLst>
                <a:path w="894" h="1691" extrusionOk="0">
                  <a:moveTo>
                    <a:pt x="179" y="0"/>
                  </a:moveTo>
                  <a:cubicBezTo>
                    <a:pt x="84" y="0"/>
                    <a:pt x="12" y="72"/>
                    <a:pt x="12" y="155"/>
                  </a:cubicBezTo>
                  <a:cubicBezTo>
                    <a:pt x="12" y="250"/>
                    <a:pt x="84" y="322"/>
                    <a:pt x="179" y="322"/>
                  </a:cubicBezTo>
                  <a:lnTo>
                    <a:pt x="262" y="322"/>
                  </a:lnTo>
                  <a:lnTo>
                    <a:pt x="262" y="1369"/>
                  </a:lnTo>
                  <a:lnTo>
                    <a:pt x="167" y="1369"/>
                  </a:lnTo>
                  <a:cubicBezTo>
                    <a:pt x="72" y="1369"/>
                    <a:pt x="0" y="1441"/>
                    <a:pt x="0" y="1524"/>
                  </a:cubicBezTo>
                  <a:cubicBezTo>
                    <a:pt x="0" y="1619"/>
                    <a:pt x="72" y="1691"/>
                    <a:pt x="167" y="1691"/>
                  </a:cubicBezTo>
                  <a:lnTo>
                    <a:pt x="727" y="1691"/>
                  </a:lnTo>
                  <a:cubicBezTo>
                    <a:pt x="822" y="1691"/>
                    <a:pt x="893" y="1619"/>
                    <a:pt x="893" y="1524"/>
                  </a:cubicBezTo>
                  <a:cubicBezTo>
                    <a:pt x="893" y="1441"/>
                    <a:pt x="834" y="1381"/>
                    <a:pt x="727" y="1381"/>
                  </a:cubicBezTo>
                  <a:lnTo>
                    <a:pt x="608" y="1381"/>
                  </a:lnTo>
                  <a:lnTo>
                    <a:pt x="608" y="155"/>
                  </a:lnTo>
                  <a:cubicBezTo>
                    <a:pt x="608" y="72"/>
                    <a:pt x="536" y="0"/>
                    <a:pt x="4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1012;p86">
              <a:extLst>
                <a:ext uri="{FF2B5EF4-FFF2-40B4-BE49-F238E27FC236}">
                  <a16:creationId xmlns:a16="http://schemas.microsoft.com/office/drawing/2014/main" id="{1DA05CF2-1418-D222-B72C-B8196D7F9E46}"/>
                </a:ext>
              </a:extLst>
            </p:cNvPr>
            <p:cNvSpPr/>
            <p:nvPr/>
          </p:nvSpPr>
          <p:spPr>
            <a:xfrm>
              <a:off x="1802899" y="2024137"/>
              <a:ext cx="16252" cy="15872"/>
            </a:xfrm>
            <a:custGeom>
              <a:avLst/>
              <a:gdLst/>
              <a:ahLst/>
              <a:cxnLst/>
              <a:rect l="l" t="t" r="r" b="b"/>
              <a:pathLst>
                <a:path w="513" h="501" extrusionOk="0">
                  <a:moveTo>
                    <a:pt x="251" y="0"/>
                  </a:moveTo>
                  <a:cubicBezTo>
                    <a:pt x="120" y="0"/>
                    <a:pt x="1" y="107"/>
                    <a:pt x="1" y="250"/>
                  </a:cubicBezTo>
                  <a:cubicBezTo>
                    <a:pt x="1" y="381"/>
                    <a:pt x="108" y="500"/>
                    <a:pt x="251" y="500"/>
                  </a:cubicBezTo>
                  <a:cubicBezTo>
                    <a:pt x="393" y="500"/>
                    <a:pt x="512" y="405"/>
                    <a:pt x="512" y="250"/>
                  </a:cubicBezTo>
                  <a:cubicBezTo>
                    <a:pt x="512" y="119"/>
                    <a:pt x="393" y="0"/>
                    <a:pt x="25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8" name="TextBox 147">
            <a:extLst>
              <a:ext uri="{FF2B5EF4-FFF2-40B4-BE49-F238E27FC236}">
                <a16:creationId xmlns:a16="http://schemas.microsoft.com/office/drawing/2014/main" id="{22ECB4A9-046C-FE7E-E690-082E94C7EE8E}"/>
              </a:ext>
            </a:extLst>
          </p:cNvPr>
          <p:cNvSpPr txBox="1"/>
          <p:nvPr/>
        </p:nvSpPr>
        <p:spPr>
          <a:xfrm>
            <a:off x="525912" y="1472467"/>
            <a:ext cx="2777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attributes: </a:t>
            </a:r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C11D690A-91B8-108E-72CA-3577D1E54245}"/>
              </a:ext>
            </a:extLst>
          </p:cNvPr>
          <p:cNvSpPr txBox="1"/>
          <p:nvPr/>
        </p:nvSpPr>
        <p:spPr>
          <a:xfrm>
            <a:off x="568988" y="3767489"/>
            <a:ext cx="28253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attributes :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3DFC375-63C8-EE60-28BB-6338B0E03749}"/>
              </a:ext>
            </a:extLst>
          </p:cNvPr>
          <p:cNvSpPr txBox="1"/>
          <p:nvPr/>
        </p:nvSpPr>
        <p:spPr>
          <a:xfrm>
            <a:off x="7131841" y="3516144"/>
            <a:ext cx="12890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F66F058D-3C11-6B6B-EC68-CB38E59EFE58}"/>
              </a:ext>
            </a:extLst>
          </p:cNvPr>
          <p:cNvSpPr txBox="1"/>
          <p:nvPr/>
        </p:nvSpPr>
        <p:spPr>
          <a:xfrm>
            <a:off x="388084" y="2030818"/>
            <a:ext cx="4028137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activity_name</a:t>
            </a:r>
            <a:r>
              <a:rPr lang="en-US" sz="1600" dirty="0"/>
              <a:t> : No missing values.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subject_id</a:t>
            </a:r>
            <a:r>
              <a:rPr lang="en-US" sz="1600" dirty="0"/>
              <a:t> : Used for subject-based activity analysis.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 err="1"/>
              <a:t>data_source</a:t>
            </a:r>
            <a:r>
              <a:rPr lang="en-US" sz="1600" dirty="0"/>
              <a:t> : Used to distinguish Protocol and Optional recordings.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6BF3771E-64D6-FE5D-8E08-5F2AD878C45C}"/>
              </a:ext>
            </a:extLst>
          </p:cNvPr>
          <p:cNvSpPr txBox="1"/>
          <p:nvPr/>
        </p:nvSpPr>
        <p:spPr>
          <a:xfrm>
            <a:off x="0" y="4312532"/>
            <a:ext cx="56769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dirty="0"/>
              <a:t>Missing sensor readings were handled using interpolation and forward filling. Invalid and noisy sensor values were removed. Sensor signals were normalized for stable feature extraction.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5778661C-4418-82F6-B02F-5623F1BF3A31}"/>
              </a:ext>
            </a:extLst>
          </p:cNvPr>
          <p:cNvCxnSpPr>
            <a:cxnSpLocks/>
          </p:cNvCxnSpPr>
          <p:nvPr/>
        </p:nvCxnSpPr>
        <p:spPr>
          <a:xfrm>
            <a:off x="5211031" y="1278785"/>
            <a:ext cx="0" cy="167195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4" name="Rectangle 163">
            <a:extLst>
              <a:ext uri="{FF2B5EF4-FFF2-40B4-BE49-F238E27FC236}">
                <a16:creationId xmlns:a16="http://schemas.microsoft.com/office/drawing/2014/main" id="{208CEFDA-C274-12C4-6B6F-0686B26CC786}"/>
              </a:ext>
            </a:extLst>
          </p:cNvPr>
          <p:cNvSpPr/>
          <p:nvPr/>
        </p:nvSpPr>
        <p:spPr>
          <a:xfrm>
            <a:off x="5525285" y="1022505"/>
            <a:ext cx="2166585" cy="51465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More than 30%</a:t>
            </a:r>
          </a:p>
        </p:txBody>
      </p:sp>
      <p:cxnSp>
        <p:nvCxnSpPr>
          <p:cNvPr id="169" name="Straight Connector 168">
            <a:extLst>
              <a:ext uri="{FF2B5EF4-FFF2-40B4-BE49-F238E27FC236}">
                <a16:creationId xmlns:a16="http://schemas.microsoft.com/office/drawing/2014/main" id="{C983E316-D429-5200-817B-2C401DEF0B78}"/>
              </a:ext>
            </a:extLst>
          </p:cNvPr>
          <p:cNvCxnSpPr>
            <a:cxnSpLocks/>
            <a:stCxn id="164" idx="1"/>
          </p:cNvCxnSpPr>
          <p:nvPr/>
        </p:nvCxnSpPr>
        <p:spPr>
          <a:xfrm flipH="1">
            <a:off x="5211036" y="1279830"/>
            <a:ext cx="314249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77" name="Google Shape;8915;p83">
            <a:extLst>
              <a:ext uri="{FF2B5EF4-FFF2-40B4-BE49-F238E27FC236}">
                <a16:creationId xmlns:a16="http://schemas.microsoft.com/office/drawing/2014/main" id="{7E64CA8A-D6D5-8A76-8260-8F4F3B9AD7F1}"/>
              </a:ext>
            </a:extLst>
          </p:cNvPr>
          <p:cNvGrpSpPr/>
          <p:nvPr/>
        </p:nvGrpSpPr>
        <p:grpSpPr>
          <a:xfrm>
            <a:off x="7167702" y="1139467"/>
            <a:ext cx="224035" cy="292205"/>
            <a:chOff x="6421399" y="2308227"/>
            <a:chExt cx="263567" cy="317614"/>
          </a:xfrm>
        </p:grpSpPr>
        <p:sp>
          <p:nvSpPr>
            <p:cNvPr id="178" name="Google Shape;8916;p83">
              <a:extLst>
                <a:ext uri="{FF2B5EF4-FFF2-40B4-BE49-F238E27FC236}">
                  <a16:creationId xmlns:a16="http://schemas.microsoft.com/office/drawing/2014/main" id="{134838C8-0102-58F2-0E5A-D825B74996B2}"/>
                </a:ext>
              </a:extLst>
            </p:cNvPr>
            <p:cNvSpPr/>
            <p:nvPr/>
          </p:nvSpPr>
          <p:spPr>
            <a:xfrm>
              <a:off x="6421399" y="2308227"/>
              <a:ext cx="263567" cy="317614"/>
            </a:xfrm>
            <a:custGeom>
              <a:avLst/>
              <a:gdLst/>
              <a:ahLst/>
              <a:cxnLst/>
              <a:rect l="l" t="t" r="r" b="b"/>
              <a:pathLst>
                <a:path w="8300" h="10002" extrusionOk="0">
                  <a:moveTo>
                    <a:pt x="4192" y="298"/>
                  </a:moveTo>
                  <a:cubicBezTo>
                    <a:pt x="4501" y="298"/>
                    <a:pt x="4775" y="513"/>
                    <a:pt x="4835" y="810"/>
                  </a:cubicBezTo>
                  <a:lnTo>
                    <a:pt x="3430" y="810"/>
                  </a:lnTo>
                  <a:cubicBezTo>
                    <a:pt x="3513" y="513"/>
                    <a:pt x="3775" y="298"/>
                    <a:pt x="4085" y="298"/>
                  </a:cubicBezTo>
                  <a:close/>
                  <a:moveTo>
                    <a:pt x="5918" y="1108"/>
                  </a:moveTo>
                  <a:cubicBezTo>
                    <a:pt x="6275" y="1108"/>
                    <a:pt x="6585" y="1275"/>
                    <a:pt x="6799" y="1560"/>
                  </a:cubicBezTo>
                  <a:lnTo>
                    <a:pt x="1465" y="1560"/>
                  </a:lnTo>
                  <a:cubicBezTo>
                    <a:pt x="1680" y="1275"/>
                    <a:pt x="1989" y="1108"/>
                    <a:pt x="2346" y="1108"/>
                  </a:cubicBezTo>
                  <a:close/>
                  <a:moveTo>
                    <a:pt x="4085" y="1"/>
                  </a:moveTo>
                  <a:cubicBezTo>
                    <a:pt x="3608" y="1"/>
                    <a:pt x="3215" y="346"/>
                    <a:pt x="3156" y="810"/>
                  </a:cubicBezTo>
                  <a:lnTo>
                    <a:pt x="2346" y="810"/>
                  </a:lnTo>
                  <a:cubicBezTo>
                    <a:pt x="1822" y="810"/>
                    <a:pt x="1370" y="1096"/>
                    <a:pt x="1132" y="1560"/>
                  </a:cubicBezTo>
                  <a:lnTo>
                    <a:pt x="596" y="1560"/>
                  </a:lnTo>
                  <a:cubicBezTo>
                    <a:pt x="263" y="1560"/>
                    <a:pt x="1" y="1822"/>
                    <a:pt x="1" y="2156"/>
                  </a:cubicBezTo>
                  <a:cubicBezTo>
                    <a:pt x="1" y="2477"/>
                    <a:pt x="263" y="2751"/>
                    <a:pt x="596" y="2751"/>
                  </a:cubicBezTo>
                  <a:lnTo>
                    <a:pt x="1013" y="2751"/>
                  </a:lnTo>
                  <a:lnTo>
                    <a:pt x="1370" y="9359"/>
                  </a:lnTo>
                  <a:cubicBezTo>
                    <a:pt x="1382" y="9716"/>
                    <a:pt x="1680" y="10002"/>
                    <a:pt x="2037" y="10002"/>
                  </a:cubicBezTo>
                  <a:lnTo>
                    <a:pt x="4466" y="10002"/>
                  </a:lnTo>
                  <a:cubicBezTo>
                    <a:pt x="4537" y="10002"/>
                    <a:pt x="4609" y="9942"/>
                    <a:pt x="4609" y="9847"/>
                  </a:cubicBezTo>
                  <a:cubicBezTo>
                    <a:pt x="4609" y="9752"/>
                    <a:pt x="4549" y="9704"/>
                    <a:pt x="4466" y="9704"/>
                  </a:cubicBezTo>
                  <a:lnTo>
                    <a:pt x="2037" y="9704"/>
                  </a:lnTo>
                  <a:cubicBezTo>
                    <a:pt x="1822" y="9704"/>
                    <a:pt x="1668" y="9538"/>
                    <a:pt x="1644" y="9347"/>
                  </a:cubicBezTo>
                  <a:lnTo>
                    <a:pt x="1287" y="2751"/>
                  </a:lnTo>
                  <a:lnTo>
                    <a:pt x="2084" y="2751"/>
                  </a:lnTo>
                  <a:cubicBezTo>
                    <a:pt x="2156" y="2751"/>
                    <a:pt x="2227" y="2692"/>
                    <a:pt x="2227" y="2596"/>
                  </a:cubicBezTo>
                  <a:cubicBezTo>
                    <a:pt x="2227" y="2525"/>
                    <a:pt x="2168" y="2453"/>
                    <a:pt x="2084" y="2453"/>
                  </a:cubicBezTo>
                  <a:lnTo>
                    <a:pt x="596" y="2453"/>
                  </a:lnTo>
                  <a:cubicBezTo>
                    <a:pt x="429" y="2453"/>
                    <a:pt x="298" y="2322"/>
                    <a:pt x="298" y="2156"/>
                  </a:cubicBezTo>
                  <a:cubicBezTo>
                    <a:pt x="298" y="1989"/>
                    <a:pt x="429" y="1858"/>
                    <a:pt x="596" y="1858"/>
                  </a:cubicBezTo>
                  <a:lnTo>
                    <a:pt x="7704" y="1858"/>
                  </a:lnTo>
                  <a:cubicBezTo>
                    <a:pt x="7871" y="1858"/>
                    <a:pt x="8002" y="1989"/>
                    <a:pt x="8002" y="2156"/>
                  </a:cubicBezTo>
                  <a:cubicBezTo>
                    <a:pt x="8002" y="2322"/>
                    <a:pt x="7871" y="2453"/>
                    <a:pt x="7704" y="2453"/>
                  </a:cubicBezTo>
                  <a:lnTo>
                    <a:pt x="2763" y="2453"/>
                  </a:lnTo>
                  <a:cubicBezTo>
                    <a:pt x="2692" y="2453"/>
                    <a:pt x="2620" y="2513"/>
                    <a:pt x="2620" y="2596"/>
                  </a:cubicBezTo>
                  <a:cubicBezTo>
                    <a:pt x="2620" y="2680"/>
                    <a:pt x="2680" y="2751"/>
                    <a:pt x="2763" y="2751"/>
                  </a:cubicBezTo>
                  <a:lnTo>
                    <a:pt x="7002" y="2751"/>
                  </a:lnTo>
                  <a:lnTo>
                    <a:pt x="6633" y="9347"/>
                  </a:lnTo>
                  <a:cubicBezTo>
                    <a:pt x="6621" y="9550"/>
                    <a:pt x="6454" y="9704"/>
                    <a:pt x="6252" y="9704"/>
                  </a:cubicBezTo>
                  <a:lnTo>
                    <a:pt x="5156" y="9704"/>
                  </a:lnTo>
                  <a:cubicBezTo>
                    <a:pt x="5085" y="9704"/>
                    <a:pt x="5013" y="9752"/>
                    <a:pt x="5013" y="9847"/>
                  </a:cubicBezTo>
                  <a:cubicBezTo>
                    <a:pt x="5013" y="9942"/>
                    <a:pt x="5073" y="10002"/>
                    <a:pt x="5156" y="10002"/>
                  </a:cubicBezTo>
                  <a:lnTo>
                    <a:pt x="6252" y="10002"/>
                  </a:lnTo>
                  <a:cubicBezTo>
                    <a:pt x="6609" y="10002"/>
                    <a:pt x="6906" y="9716"/>
                    <a:pt x="6918" y="9359"/>
                  </a:cubicBezTo>
                  <a:lnTo>
                    <a:pt x="7287" y="2751"/>
                  </a:lnTo>
                  <a:lnTo>
                    <a:pt x="7704" y="2751"/>
                  </a:lnTo>
                  <a:cubicBezTo>
                    <a:pt x="8038" y="2751"/>
                    <a:pt x="8299" y="2477"/>
                    <a:pt x="8299" y="2156"/>
                  </a:cubicBezTo>
                  <a:cubicBezTo>
                    <a:pt x="8288" y="1822"/>
                    <a:pt x="8014" y="1560"/>
                    <a:pt x="7692" y="1560"/>
                  </a:cubicBezTo>
                  <a:lnTo>
                    <a:pt x="7145" y="1560"/>
                  </a:lnTo>
                  <a:cubicBezTo>
                    <a:pt x="6906" y="1108"/>
                    <a:pt x="6442" y="810"/>
                    <a:pt x="5918" y="810"/>
                  </a:cubicBezTo>
                  <a:lnTo>
                    <a:pt x="5132" y="810"/>
                  </a:lnTo>
                  <a:cubicBezTo>
                    <a:pt x="5073" y="346"/>
                    <a:pt x="4668" y="1"/>
                    <a:pt x="41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8917;p83">
              <a:extLst>
                <a:ext uri="{FF2B5EF4-FFF2-40B4-BE49-F238E27FC236}">
                  <a16:creationId xmlns:a16="http://schemas.microsoft.com/office/drawing/2014/main" id="{E7964010-38E8-6407-5B88-B4506CE13878}"/>
                </a:ext>
              </a:extLst>
            </p:cNvPr>
            <p:cNvSpPr/>
            <p:nvPr/>
          </p:nvSpPr>
          <p:spPr>
            <a:xfrm>
              <a:off x="6539750" y="2414860"/>
              <a:ext cx="26484" cy="162236"/>
            </a:xfrm>
            <a:custGeom>
              <a:avLst/>
              <a:gdLst/>
              <a:ahLst/>
              <a:cxnLst/>
              <a:rect l="l" t="t" r="r" b="b"/>
              <a:pathLst>
                <a:path w="834" h="5109" extrusionOk="0">
                  <a:moveTo>
                    <a:pt x="405" y="286"/>
                  </a:moveTo>
                  <a:cubicBezTo>
                    <a:pt x="477" y="298"/>
                    <a:pt x="536" y="346"/>
                    <a:pt x="536" y="417"/>
                  </a:cubicBezTo>
                  <a:lnTo>
                    <a:pt x="536" y="4691"/>
                  </a:lnTo>
                  <a:cubicBezTo>
                    <a:pt x="536" y="4763"/>
                    <a:pt x="477" y="4822"/>
                    <a:pt x="405" y="4822"/>
                  </a:cubicBezTo>
                  <a:cubicBezTo>
                    <a:pt x="334" y="4822"/>
                    <a:pt x="274" y="4763"/>
                    <a:pt x="274" y="4691"/>
                  </a:cubicBezTo>
                  <a:lnTo>
                    <a:pt x="274" y="417"/>
                  </a:lnTo>
                  <a:cubicBezTo>
                    <a:pt x="274" y="346"/>
                    <a:pt x="334" y="286"/>
                    <a:pt x="405" y="286"/>
                  </a:cubicBezTo>
                  <a:close/>
                  <a:moveTo>
                    <a:pt x="417" y="0"/>
                  </a:moveTo>
                  <a:cubicBezTo>
                    <a:pt x="179" y="0"/>
                    <a:pt x="0" y="191"/>
                    <a:pt x="0" y="417"/>
                  </a:cubicBezTo>
                  <a:lnTo>
                    <a:pt x="0" y="4691"/>
                  </a:lnTo>
                  <a:cubicBezTo>
                    <a:pt x="0" y="4930"/>
                    <a:pt x="203" y="5108"/>
                    <a:pt x="417" y="5108"/>
                  </a:cubicBezTo>
                  <a:cubicBezTo>
                    <a:pt x="655" y="5108"/>
                    <a:pt x="834" y="4918"/>
                    <a:pt x="834" y="4691"/>
                  </a:cubicBezTo>
                  <a:lnTo>
                    <a:pt x="834" y="417"/>
                  </a:lnTo>
                  <a:cubicBezTo>
                    <a:pt x="834" y="191"/>
                    <a:pt x="643" y="0"/>
                    <a:pt x="4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8918;p83">
              <a:extLst>
                <a:ext uri="{FF2B5EF4-FFF2-40B4-BE49-F238E27FC236}">
                  <a16:creationId xmlns:a16="http://schemas.microsoft.com/office/drawing/2014/main" id="{BD949436-D169-D83A-5562-88DFDBE62072}"/>
                </a:ext>
              </a:extLst>
            </p:cNvPr>
            <p:cNvSpPr/>
            <p:nvPr/>
          </p:nvSpPr>
          <p:spPr>
            <a:xfrm>
              <a:off x="6590018" y="2414479"/>
              <a:ext cx="30294" cy="162967"/>
            </a:xfrm>
            <a:custGeom>
              <a:avLst/>
              <a:gdLst/>
              <a:ahLst/>
              <a:cxnLst/>
              <a:rect l="l" t="t" r="r" b="b"/>
              <a:pathLst>
                <a:path w="954" h="5132" extrusionOk="0">
                  <a:moveTo>
                    <a:pt x="537" y="0"/>
                  </a:moveTo>
                  <a:cubicBezTo>
                    <a:pt x="311" y="0"/>
                    <a:pt x="120" y="179"/>
                    <a:pt x="120" y="417"/>
                  </a:cubicBezTo>
                  <a:lnTo>
                    <a:pt x="1" y="4691"/>
                  </a:lnTo>
                  <a:cubicBezTo>
                    <a:pt x="1" y="4811"/>
                    <a:pt x="49" y="4906"/>
                    <a:pt x="120" y="5001"/>
                  </a:cubicBezTo>
                  <a:cubicBezTo>
                    <a:pt x="191" y="5084"/>
                    <a:pt x="311" y="5132"/>
                    <a:pt x="418" y="5132"/>
                  </a:cubicBezTo>
                  <a:cubicBezTo>
                    <a:pt x="644" y="5132"/>
                    <a:pt x="834" y="4953"/>
                    <a:pt x="834" y="4715"/>
                  </a:cubicBezTo>
                  <a:lnTo>
                    <a:pt x="846" y="4025"/>
                  </a:lnTo>
                  <a:cubicBezTo>
                    <a:pt x="846" y="3953"/>
                    <a:pt x="787" y="3882"/>
                    <a:pt x="703" y="3882"/>
                  </a:cubicBezTo>
                  <a:cubicBezTo>
                    <a:pt x="620" y="3882"/>
                    <a:pt x="549" y="3941"/>
                    <a:pt x="549" y="4025"/>
                  </a:cubicBezTo>
                  <a:lnTo>
                    <a:pt x="537" y="4715"/>
                  </a:lnTo>
                  <a:cubicBezTo>
                    <a:pt x="537" y="4787"/>
                    <a:pt x="477" y="4834"/>
                    <a:pt x="406" y="4834"/>
                  </a:cubicBezTo>
                  <a:cubicBezTo>
                    <a:pt x="370" y="4834"/>
                    <a:pt x="322" y="4822"/>
                    <a:pt x="311" y="4787"/>
                  </a:cubicBezTo>
                  <a:cubicBezTo>
                    <a:pt x="287" y="4763"/>
                    <a:pt x="263" y="4727"/>
                    <a:pt x="287" y="4703"/>
                  </a:cubicBezTo>
                  <a:lnTo>
                    <a:pt x="406" y="429"/>
                  </a:lnTo>
                  <a:cubicBezTo>
                    <a:pt x="406" y="358"/>
                    <a:pt x="465" y="310"/>
                    <a:pt x="537" y="310"/>
                  </a:cubicBezTo>
                  <a:cubicBezTo>
                    <a:pt x="561" y="310"/>
                    <a:pt x="608" y="322"/>
                    <a:pt x="620" y="358"/>
                  </a:cubicBezTo>
                  <a:cubicBezTo>
                    <a:pt x="656" y="381"/>
                    <a:pt x="668" y="417"/>
                    <a:pt x="656" y="441"/>
                  </a:cubicBezTo>
                  <a:lnTo>
                    <a:pt x="561" y="3358"/>
                  </a:lnTo>
                  <a:cubicBezTo>
                    <a:pt x="561" y="3441"/>
                    <a:pt x="644" y="3513"/>
                    <a:pt x="715" y="3513"/>
                  </a:cubicBezTo>
                  <a:cubicBezTo>
                    <a:pt x="787" y="3513"/>
                    <a:pt x="858" y="3453"/>
                    <a:pt x="858" y="3358"/>
                  </a:cubicBezTo>
                  <a:lnTo>
                    <a:pt x="953" y="441"/>
                  </a:lnTo>
                  <a:cubicBezTo>
                    <a:pt x="953" y="322"/>
                    <a:pt x="906" y="227"/>
                    <a:pt x="834" y="131"/>
                  </a:cubicBezTo>
                  <a:cubicBezTo>
                    <a:pt x="763" y="36"/>
                    <a:pt x="644" y="0"/>
                    <a:pt x="53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8919;p83">
              <a:extLst>
                <a:ext uri="{FF2B5EF4-FFF2-40B4-BE49-F238E27FC236}">
                  <a16:creationId xmlns:a16="http://schemas.microsoft.com/office/drawing/2014/main" id="{D5370C1C-FA7B-0E1B-1CC2-DE28D0C0A926}"/>
                </a:ext>
              </a:extLst>
            </p:cNvPr>
            <p:cNvSpPr/>
            <p:nvPr/>
          </p:nvSpPr>
          <p:spPr>
            <a:xfrm>
              <a:off x="6486052" y="2414860"/>
              <a:ext cx="30294" cy="162967"/>
            </a:xfrm>
            <a:custGeom>
              <a:avLst/>
              <a:gdLst/>
              <a:ahLst/>
              <a:cxnLst/>
              <a:rect l="l" t="t" r="r" b="b"/>
              <a:pathLst>
                <a:path w="954" h="5132" extrusionOk="0">
                  <a:moveTo>
                    <a:pt x="406" y="298"/>
                  </a:moveTo>
                  <a:cubicBezTo>
                    <a:pt x="477" y="298"/>
                    <a:pt x="537" y="358"/>
                    <a:pt x="537" y="417"/>
                  </a:cubicBezTo>
                  <a:lnTo>
                    <a:pt x="656" y="4691"/>
                  </a:lnTo>
                  <a:cubicBezTo>
                    <a:pt x="668" y="4715"/>
                    <a:pt x="656" y="4763"/>
                    <a:pt x="620" y="4775"/>
                  </a:cubicBezTo>
                  <a:cubicBezTo>
                    <a:pt x="596" y="4810"/>
                    <a:pt x="560" y="4822"/>
                    <a:pt x="537" y="4822"/>
                  </a:cubicBezTo>
                  <a:cubicBezTo>
                    <a:pt x="465" y="4822"/>
                    <a:pt x="406" y="4763"/>
                    <a:pt x="406" y="4703"/>
                  </a:cubicBezTo>
                  <a:lnTo>
                    <a:pt x="287" y="429"/>
                  </a:lnTo>
                  <a:cubicBezTo>
                    <a:pt x="287" y="405"/>
                    <a:pt x="298" y="358"/>
                    <a:pt x="310" y="346"/>
                  </a:cubicBezTo>
                  <a:cubicBezTo>
                    <a:pt x="346" y="310"/>
                    <a:pt x="370" y="298"/>
                    <a:pt x="406" y="298"/>
                  </a:cubicBezTo>
                  <a:close/>
                  <a:moveTo>
                    <a:pt x="417" y="0"/>
                  </a:moveTo>
                  <a:cubicBezTo>
                    <a:pt x="298" y="0"/>
                    <a:pt x="191" y="48"/>
                    <a:pt x="120" y="131"/>
                  </a:cubicBezTo>
                  <a:cubicBezTo>
                    <a:pt x="48" y="227"/>
                    <a:pt x="1" y="334"/>
                    <a:pt x="1" y="453"/>
                  </a:cubicBezTo>
                  <a:lnTo>
                    <a:pt x="120" y="4715"/>
                  </a:lnTo>
                  <a:cubicBezTo>
                    <a:pt x="120" y="4941"/>
                    <a:pt x="310" y="5132"/>
                    <a:pt x="537" y="5132"/>
                  </a:cubicBezTo>
                  <a:cubicBezTo>
                    <a:pt x="656" y="5132"/>
                    <a:pt x="763" y="5096"/>
                    <a:pt x="834" y="5001"/>
                  </a:cubicBezTo>
                  <a:cubicBezTo>
                    <a:pt x="906" y="4918"/>
                    <a:pt x="953" y="4810"/>
                    <a:pt x="953" y="4691"/>
                  </a:cubicBezTo>
                  <a:lnTo>
                    <a:pt x="834" y="417"/>
                  </a:lnTo>
                  <a:cubicBezTo>
                    <a:pt x="834" y="179"/>
                    <a:pt x="644" y="0"/>
                    <a:pt x="41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F76D398C-7F80-E614-9E10-1CA9AE1E4255}"/>
              </a:ext>
            </a:extLst>
          </p:cNvPr>
          <p:cNvSpPr txBox="1"/>
          <p:nvPr/>
        </p:nvSpPr>
        <p:spPr>
          <a:xfrm>
            <a:off x="5228831" y="1519642"/>
            <a:ext cx="14763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Dropped rows with </a:t>
            </a:r>
            <a:r>
              <a:rPr lang="en-US" dirty="0" err="1"/>
              <a:t>activityID</a:t>
            </a:r>
            <a:r>
              <a:rPr lang="en-US" dirty="0"/>
              <a:t> = 0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0B730F90-56FB-757E-D6CC-68CDF8934AB2}"/>
              </a:ext>
            </a:extLst>
          </p:cNvPr>
          <p:cNvCxnSpPr>
            <a:cxnSpLocks/>
          </p:cNvCxnSpPr>
          <p:nvPr/>
        </p:nvCxnSpPr>
        <p:spPr>
          <a:xfrm rot="16200000" flipH="1">
            <a:off x="4826534" y="3302524"/>
            <a:ext cx="1340204" cy="571212"/>
          </a:xfrm>
          <a:prstGeom prst="bentConnector3">
            <a:avLst>
              <a:gd name="adj1" fmla="val 50000"/>
            </a:avLst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1" name="Rectangle 190">
            <a:extLst>
              <a:ext uri="{FF2B5EF4-FFF2-40B4-BE49-F238E27FC236}">
                <a16:creationId xmlns:a16="http://schemas.microsoft.com/office/drawing/2014/main" id="{899C623E-F848-DD55-7D13-BDE970BA9BD6}"/>
              </a:ext>
            </a:extLst>
          </p:cNvPr>
          <p:cNvSpPr/>
          <p:nvPr/>
        </p:nvSpPr>
        <p:spPr>
          <a:xfrm>
            <a:off x="5176434" y="3783969"/>
            <a:ext cx="1279301" cy="47677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</a:t>
            </a:r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26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Google Shape;326;p37">
            <a:extLst>
              <a:ext uri="{FF2B5EF4-FFF2-40B4-BE49-F238E27FC236}">
                <a16:creationId xmlns:a16="http://schemas.microsoft.com/office/drawing/2014/main" id="{D338B4CA-C546-4B46-BF0F-B60348E9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2833" y="88375"/>
            <a:ext cx="7464813" cy="5365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and Visualizations: Question and inferences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92833" y="495496"/>
            <a:ext cx="72816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400" dirty="0"/>
              <a:t>How is physical activity data distributed across the 9 subjects in the PAMAP2 dataset?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59026-20E4-2938-2E43-33953D7031AA}"/>
              </a:ext>
            </a:extLst>
          </p:cNvPr>
          <p:cNvSpPr txBox="1"/>
          <p:nvPr/>
        </p:nvSpPr>
        <p:spPr>
          <a:xfrm>
            <a:off x="0" y="864828"/>
            <a:ext cx="329353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Computer Work has the highest representation with 237,902 rows, followed by ironing (229,709) and walking (192,250)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Playing soccer has the fewest rows (47,577) as most subjects performed it only briefly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class imbalance is a real challenge — ironing has 5× more data than rope jumping, which affects model learning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5740" y="187848"/>
            <a:ext cx="1828080" cy="572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C1A07E-D64E-4FB9-890F-8B45724BB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767" y="969109"/>
            <a:ext cx="5728234" cy="398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206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Google Shape;326;p37">
            <a:extLst>
              <a:ext uri="{FF2B5EF4-FFF2-40B4-BE49-F238E27FC236}">
                <a16:creationId xmlns:a16="http://schemas.microsoft.com/office/drawing/2014/main" id="{D338B4CA-C546-4B46-BF0F-B60348E9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403" y="-172666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br>
              <a:rPr lang="en-US" sz="2800" dirty="0">
                <a:latin typeface="Garamond" panose="02020404030301010803" pitchFamily="18" charset="0"/>
              </a:rPr>
            </a:b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660004" y="468314"/>
            <a:ext cx="6385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dirty="0"/>
              <a:t>How does heart rate vary across different physical activities?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59026-20E4-2938-2E43-33953D7031AA}"/>
              </a:ext>
            </a:extLst>
          </p:cNvPr>
          <p:cNvSpPr txBox="1"/>
          <p:nvPr/>
        </p:nvSpPr>
        <p:spPr>
          <a:xfrm>
            <a:off x="-22676" y="892011"/>
            <a:ext cx="4434655" cy="4202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Playing soccer shows the highest mean heart rate (~169 BPM), confirming high cardiovascular demand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Lying and computer work show the lowest heart rate (~76 BPM), consistent with resting physiology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Heart rate alone cannot distinguish similar-intensity activities like walking vs vacuuming — multi-sensor fusion is essential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709AD0-312B-1683-5BBC-F5556C930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1" y="892011"/>
            <a:ext cx="4571999" cy="250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8062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247743" y="752253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Google Shape;326;p37">
            <a:extLst>
              <a:ext uri="{FF2B5EF4-FFF2-40B4-BE49-F238E27FC236}">
                <a16:creationId xmlns:a16="http://schemas.microsoft.com/office/drawing/2014/main" id="{D338B4CA-C546-4B46-BF0F-B60348E9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403" y="-172666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br>
              <a:rPr lang="en-US" sz="2800" dirty="0">
                <a:latin typeface="Garamond" panose="02020404030301010803" pitchFamily="18" charset="0"/>
              </a:rPr>
            </a:b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0" y="0"/>
            <a:ext cx="67095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2000" dirty="0"/>
              <a:t>Which activities produce the highest body acceleration and which produce the lowest?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659026-20E4-2938-2E43-33953D7031AA}"/>
              </a:ext>
            </a:extLst>
          </p:cNvPr>
          <p:cNvSpPr txBox="1"/>
          <p:nvPr/>
        </p:nvSpPr>
        <p:spPr>
          <a:xfrm>
            <a:off x="451531" y="890895"/>
            <a:ext cx="384953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and rope jumping produce the highest chest acceleration — consistent with high-impact full-body movement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Lying, sitting, and standing show near-zero acceleration — the body is stationary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Walking, stair climbing, and Nordic walking share similar acceleration ranges, explaining why the model struggles to distinguish them — this is a core sensor limitation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2CCCB68-5A6C-EF3B-DFDB-E69D02D16C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0231" y="1346207"/>
            <a:ext cx="4953769" cy="2718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76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89371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5" name="Google Shape;326;p37">
            <a:extLst>
              <a:ext uri="{FF2B5EF4-FFF2-40B4-BE49-F238E27FC236}">
                <a16:creationId xmlns:a16="http://schemas.microsoft.com/office/drawing/2014/main" id="{D338B4CA-C546-4B46-BF0F-B60348E95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4403" y="-172666"/>
            <a:ext cx="7704000" cy="7862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br>
              <a:rPr lang="en-US" sz="2800" dirty="0">
                <a:latin typeface="Garamond" panose="02020404030301010803" pitchFamily="18" charset="0"/>
              </a:rPr>
            </a:br>
            <a:endParaRPr lang="en-US" sz="2800" dirty="0">
              <a:latin typeface="Garamond" panose="020204040303010108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95343" y="137811"/>
            <a:ext cx="638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dirty="0"/>
              <a:t>How is the sensor data distributed across the 9 subjects and what were the preprocessing decisions made?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D242FA-CE97-B349-C0EA-6A88AC3272E3}"/>
              </a:ext>
            </a:extLst>
          </p:cNvPr>
          <p:cNvSpPr txBox="1"/>
          <p:nvPr/>
        </p:nvSpPr>
        <p:spPr>
          <a:xfrm>
            <a:off x="0" y="851270"/>
            <a:ext cx="4207933" cy="4550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Subject 101 contributed the most data (466,122 raw rows) while Subject 109 contributed the least (164,548 rows — excluded from LOSO evaluation) 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340,000+ rows were removed as </a:t>
            </a:r>
            <a:r>
              <a:rPr lang="en-US" sz="2000" dirty="0" err="1"/>
              <a:t>activityID</a:t>
            </a:r>
            <a:r>
              <a:rPr lang="en-US" sz="2000" dirty="0"/>
              <a:t>=0 (transient activities between sessions — per README instructions)</a:t>
            </a:r>
          </a:p>
          <a:p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91% of </a:t>
            </a:r>
            <a:r>
              <a:rPr lang="en-US" sz="2000" dirty="0" err="1"/>
              <a:t>HeartRate</a:t>
            </a:r>
            <a:r>
              <a:rPr lang="en-US" sz="2000" dirty="0"/>
              <a:t> values were </a:t>
            </a:r>
            <a:r>
              <a:rPr lang="en-US" sz="2000" dirty="0" err="1"/>
              <a:t>NaN</a:t>
            </a:r>
            <a:r>
              <a:rPr lang="en-US" sz="2000" dirty="0"/>
              <a:t> due to 9Hz sampling vs 100Hz IMU — fixed with forward-fill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BFFEEE-0C26-AE4D-9A09-1ADB675006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4200" y="960904"/>
            <a:ext cx="4677394" cy="3592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226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323943" y="449747"/>
            <a:ext cx="8133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US" dirty="0"/>
              <a:t>How do raw sensor signals visually differ between activities at 100Hz sampling?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9DC0D-E7BD-FB02-155A-185E90E6EBF8}"/>
              </a:ext>
            </a:extLst>
          </p:cNvPr>
          <p:cNvSpPr txBox="1"/>
          <p:nvPr/>
        </p:nvSpPr>
        <p:spPr>
          <a:xfrm>
            <a:off x="421144" y="1116045"/>
            <a:ext cx="429139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shows high-amplitude, highly rhythmic oscillation — unmistakable sensor pattern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Walking shows moderate, regular oscillation — lower amplitude than running Sitting shows near-flat signal with minimal variance — sensor barely moves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Stair climbing shows irregular, asymmetric peaks — distinguishable from walking but with overlap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920" y="-17096"/>
            <a:ext cx="1828080" cy="5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1D23FB-A79B-E3A1-B018-74B52C406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910578"/>
            <a:ext cx="4533202" cy="369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963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323943" y="445923"/>
            <a:ext cx="8133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US" dirty="0"/>
              <a:t>What is the </a:t>
            </a:r>
            <a:r>
              <a:rPr lang="en-US" dirty="0" err="1"/>
              <a:t>NaN</a:t>
            </a:r>
            <a:r>
              <a:rPr lang="en-US" dirty="0"/>
              <a:t> distribution across sensor channels and how was it handled?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E9821-E523-ACD2-2E8F-0B6686C8B6E0}"/>
              </a:ext>
            </a:extLst>
          </p:cNvPr>
          <p:cNvSpPr txBox="1"/>
          <p:nvPr/>
        </p:nvSpPr>
        <p:spPr>
          <a:xfrm>
            <a:off x="-1" y="864828"/>
            <a:ext cx="59751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HeartRate</a:t>
            </a:r>
            <a:r>
              <a:rPr lang="en-US" dirty="0"/>
              <a:t> channel: 91% </a:t>
            </a:r>
            <a:r>
              <a:rPr lang="en-US" dirty="0" err="1"/>
              <a:t>NaN</a:t>
            </a:r>
            <a:r>
              <a:rPr lang="en-US" dirty="0"/>
              <a:t> — caused by HR monitor sampling at ~9Hz vs IMU at 100Hz — solved with forward-fill (carry last known value forward)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IMU sensor channels: less than 0.5% </a:t>
            </a:r>
            <a:r>
              <a:rPr lang="en-US" dirty="0" err="1"/>
              <a:t>NaN</a:t>
            </a:r>
            <a:r>
              <a:rPr lang="en-US" dirty="0"/>
              <a:t> — caused by rare wireless dropout events — solved by dropping affected rows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After preprocessing: zero </a:t>
            </a:r>
            <a:r>
              <a:rPr lang="en-US" dirty="0" err="1"/>
              <a:t>NaN</a:t>
            </a:r>
            <a:r>
              <a:rPr lang="en-US" dirty="0"/>
              <a:t> values across all 1,921,389 Protocol rows — confirmed clean dataset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5685" y="5779"/>
            <a:ext cx="1828080" cy="572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782827-40CC-0F85-30C1-AA9C6781FD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5187" y="889353"/>
            <a:ext cx="3168813" cy="424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28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0" y="73158"/>
            <a:ext cx="6385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lang="en-US" dirty="0"/>
              <a:t>What is the effect of window purity filtering on the dataset and why is it necessary?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7720E1-3399-39C3-9454-54C07DF6194B}"/>
              </a:ext>
            </a:extLst>
          </p:cNvPr>
          <p:cNvSpPr txBox="1"/>
          <p:nvPr/>
        </p:nvSpPr>
        <p:spPr>
          <a:xfrm>
            <a:off x="0" y="864827"/>
            <a:ext cx="559646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total of 154 impure windows (&lt; 85% label purity) were discarded across all 9 subjects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Impure windows occur at activity transitions — e.g., the moment a person stops walking and starts climbing stairs</a:t>
            </a:r>
          </a:p>
          <a:p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Without purity filtering, transition noise contaminates feature statistics and reduces model accuracy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85% threshold keeps 99.7% of all windows while removing genuinely ambiguous boundary segments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8E2DC61-1C8A-7AFC-7A9E-87C2DB649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468" y="864827"/>
            <a:ext cx="3547532" cy="429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7207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0" y="77897"/>
            <a:ext cx="7109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</a:t>
            </a:r>
            <a:r>
              <a:rPr lang="en-US" sz="2000" dirty="0"/>
              <a:t> Which sensor body location (hand, chest, ankle) contributes most to activity recognition accuracy?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2F2097-7B9D-C76C-FA2E-8CBC2FC39665}"/>
              </a:ext>
            </a:extLst>
          </p:cNvPr>
          <p:cNvSpPr txBox="1"/>
          <p:nvPr/>
        </p:nvSpPr>
        <p:spPr>
          <a:xfrm>
            <a:off x="72482" y="864828"/>
            <a:ext cx="458452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Removing the hand sensor drops accuracy by +1.4% — hand captures arm motion patterns critical for activities like ironing, Nordic walking, and vacuuming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Removing the ankle sensor drops accuracy by only -3.9% in the final model — but earlier Protocol-only experiments showed 17.6% drop, suggesting interaction effects between sensors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Removing the chest sensor drops accuracy by                        -5.9% — torso motion is moderately informative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Wearable devices prioritizing hand placement over chest placement will achieve better activity recognition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39AE9D-E909-BA5C-7366-85FA1131B3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472" y="882513"/>
            <a:ext cx="4584528" cy="14758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1DADE9-399C-1556-C3C0-48FD98ECA5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16801" y="2376038"/>
            <a:ext cx="4584529" cy="2253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6088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0" y="115678"/>
            <a:ext cx="70921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 </a:t>
            </a:r>
            <a:r>
              <a:rPr lang="en-US" dirty="0"/>
              <a:t>How does the dataset change from 3 subjects to 9 subjects and what is the impact on model performance?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47CFE0-7AEA-C994-C463-D12CCBF427B8}"/>
              </a:ext>
            </a:extLst>
          </p:cNvPr>
          <p:cNvSpPr txBox="1"/>
          <p:nvPr/>
        </p:nvSpPr>
        <p:spPr>
          <a:xfrm>
            <a:off x="0" y="864828"/>
            <a:ext cx="4876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3 subjects: 764,584 rows, 10,328 training windows, RF accuracy 82.4%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With 9 subjects: 1,921,389 rows, 32,403 training windows, Voting Ensemble accuracy 95.8%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Adding more subjects improved LOSO average from 66.9% to 83.4% — the model </a:t>
            </a:r>
            <a:r>
              <a:rPr lang="en-US" dirty="0" err="1"/>
              <a:t>generalises</a:t>
            </a:r>
            <a:r>
              <a:rPr lang="en-US" dirty="0"/>
              <a:t> significantly better to new individuals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Subject 107 achieved 94.0% LOSO accuracy while Subject 101 achieved only 67.5% — showing person-specific movement styles remain a challenge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8A9166-430D-AA0E-EDA4-14A2D0C93E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4474" y="879511"/>
            <a:ext cx="4393746" cy="2803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1427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0" y="56385"/>
            <a:ext cx="71149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 </a:t>
            </a:r>
            <a:r>
              <a:rPr lang="en-US" sz="2000" dirty="0"/>
              <a:t>What are the most frequently misclassified activity pairs and what is the sensor-level reason?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E9821-E523-ACD2-2E8F-0B6686C8B6E0}"/>
              </a:ext>
            </a:extLst>
          </p:cNvPr>
          <p:cNvSpPr txBox="1"/>
          <p:nvPr/>
        </p:nvSpPr>
        <p:spPr>
          <a:xfrm>
            <a:off x="0" y="864828"/>
            <a:ext cx="575733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Standing → Ironing (109 cases): Both activities involve slow arm movement with near-zero whole-body acceleration — sensors cannot distinguish them reliably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Running → Lying (12 cases): Temporal smoothing errors at activity boundaries — a person lying down after running still has residual movement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Stairs up → Stairs down (6 cases): Opposite direction movement produces nearly identical joint angle patterns in the ankle sensor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These confusions are not model failures — they represent fundamental physical sensor limitations in consumer wearables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4956" y="21456"/>
            <a:ext cx="1828080" cy="5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BEF3193-7E99-C19E-C19D-620C43940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7748" y="1135501"/>
            <a:ext cx="3476252" cy="301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5879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56625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461F206-C5B9-A47E-296A-5E3B2717C44C}"/>
              </a:ext>
            </a:extLst>
          </p:cNvPr>
          <p:cNvSpPr txBox="1"/>
          <p:nvPr/>
        </p:nvSpPr>
        <p:spPr>
          <a:xfrm>
            <a:off x="0" y="65328"/>
            <a:ext cx="70921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</a:t>
            </a:r>
            <a:r>
              <a:rPr lang="en-US" sz="2000" dirty="0"/>
              <a:t>Why does standing remain the most unreliable activity even after all improvements?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901706-19B3-4AD5-9062-3298B3C4755D}"/>
              </a:ext>
            </a:extLst>
          </p:cNvPr>
          <p:cNvSpPr txBox="1"/>
          <p:nvPr/>
        </p:nvSpPr>
        <p:spPr>
          <a:xfrm>
            <a:off x="0" y="882512"/>
            <a:ext cx="393700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Standing achieves 77.3% accuracy despite all optimizations — lowest of all activities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confusion is structural: both standing and ironing involve a stationary body with slow, low-amplitude arm motion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hand sensor's mean acceleration, std, energy, and even autocorrelation values are similar for both activities 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finding directly supports the project's core argument: wearable devices reporting calorie burn or activity type during standing should flag low reliability to the user — the sensor data is genuinely ambiguous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DE2766-6465-A2B8-9220-100EF76B9D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7751" y="882512"/>
            <a:ext cx="5256249" cy="3477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478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5594" y="222000"/>
            <a:ext cx="7704000" cy="572700"/>
          </a:xfrm>
        </p:spPr>
        <p:txBody>
          <a:bodyPr/>
          <a:lstStyle/>
          <a:p>
            <a:r>
              <a:rPr lang="en-US" dirty="0"/>
              <a:t>Feature Selection/Engineering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-1" y="912200"/>
            <a:ext cx="4783668" cy="40589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Time domain: mean, std, min, max, range, energy per sensor column</a:t>
            </a:r>
          </a:p>
          <a:p>
            <a:pPr marL="285750" lvl="0" indent="-285750">
              <a:lnSpc>
                <a:spcPct val="12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Frequency domain: dominant frequency, spectral entropy, peak power per sensor column </a:t>
            </a:r>
          </a:p>
          <a:p>
            <a:pPr marL="285750" lvl="0" indent="-285750">
              <a:lnSpc>
                <a:spcPct val="12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Additional: autocorrelation (3 lags), zero-crossing rate, skewness, kurtosis, acceleration magnitude, cross-sensor correlation</a:t>
            </a:r>
          </a:p>
          <a:p>
            <a:pPr marL="285750" lvl="0" indent="-285750">
              <a:lnSpc>
                <a:spcPct val="12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Ankle and chest acceleration magnitude features are most important — body movement intensity is the primary activity discriminator.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A8C11F0-A76E-49F8-80FF-CF1C6E3CB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5737" y="864829"/>
            <a:ext cx="4408168" cy="341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0291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649" y="300059"/>
            <a:ext cx="7704000" cy="572700"/>
          </a:xfrm>
        </p:spPr>
        <p:txBody>
          <a:bodyPr/>
          <a:lstStyle/>
          <a:p>
            <a:r>
              <a:rPr lang="en-US" dirty="0"/>
              <a:t>Feature Selection/Engineering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0" y="864827"/>
            <a:ext cx="4012372" cy="3726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lnSpc>
                <a:spcPct val="12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Higher ankle acceleration energy → strongly predicts running, cycling, stairs </a:t>
            </a:r>
          </a:p>
          <a:p>
            <a:pPr lvl="0">
              <a:lnSpc>
                <a:spcPct val="120000"/>
              </a:lnSpc>
              <a:buClr>
                <a:schemeClr val="dk1"/>
              </a:buClr>
              <a:buSzPts val="2000"/>
            </a:pPr>
            <a:endParaRPr lang="en-US" dirty="0"/>
          </a:p>
          <a:p>
            <a:pPr marL="285750" lvl="0" indent="-285750">
              <a:lnSpc>
                <a:spcPct val="12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Higher hand autocorrelation at lag 50 → strongly predicts ironing (repetitive stroke pattern) </a:t>
            </a:r>
          </a:p>
          <a:p>
            <a:pPr lvl="0">
              <a:lnSpc>
                <a:spcPct val="120000"/>
              </a:lnSpc>
              <a:buClr>
                <a:schemeClr val="dk1"/>
              </a:buClr>
              <a:buSzPts val="2000"/>
            </a:pPr>
            <a:endParaRPr lang="en-US" dirty="0"/>
          </a:p>
          <a:p>
            <a:pPr marL="285750" lvl="0" indent="-285750">
              <a:lnSpc>
                <a:spcPct val="120000"/>
              </a:lnSpc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dirty="0"/>
              <a:t>Near-zero dominant frequency across all sensors → strongly predicts sitting or standing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EAC4AAB-46E5-8E54-FD23-6AD28FE91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372" y="958766"/>
            <a:ext cx="5073808" cy="4104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8715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building 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223743" y="1017725"/>
            <a:ext cx="5387309" cy="40035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Machine Learning Models Used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Decision Tree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K-Nearest Neighbors (KNN)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Random Forest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Voting Ensemble Model 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b="1" dirty="0"/>
              <a:t>Training Methodology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Subject-based train-test splitting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Sliding window feature extraction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Time-domain and frequency-domain features used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Leave-One-Subject-Out (LOSO) validation performed</a:t>
            </a:r>
          </a:p>
          <a:p>
            <a:pPr lvl="0">
              <a:lnSpc>
                <a:spcPct val="120000"/>
              </a:lnSpc>
              <a:buClr>
                <a:schemeClr val="dk1"/>
              </a:buClr>
              <a:buSzPts val="2000"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12791" y="1023909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8B6E83F-AB93-9D28-8D21-4496C0C58C85}"/>
              </a:ext>
            </a:extLst>
          </p:cNvPr>
          <p:cNvSpPr txBox="1"/>
          <p:nvPr/>
        </p:nvSpPr>
        <p:spPr>
          <a:xfrm>
            <a:off x="4036779" y="1017725"/>
            <a:ext cx="475077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Ensemble Strategy</a:t>
            </a:r>
          </a:p>
          <a:p>
            <a:r>
              <a:rPr lang="en-US" dirty="0"/>
              <a:t>Combined: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Random Forest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/>
              <a:t>KNN </a:t>
            </a: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en-US" dirty="0" err="1"/>
              <a:t>XGBoost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Soft voting ensemble used for final prediction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Weighted ensemble improved prediction stability and confidence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673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evaluation 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0" y="3943171"/>
            <a:ext cx="60959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Temporal smoothing improved final activity prediction accuracy to: </a:t>
            </a:r>
            <a:r>
              <a:rPr lang="en-US" b="1" dirty="0"/>
              <a:t>96.6%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Voting Ensemble achieved the best overall performance.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dirty="0"/>
              <a:t>Model Used : Voting </a:t>
            </a:r>
            <a:r>
              <a:rPr lang="en-US" dirty="0" err="1"/>
              <a:t>Esemble</a:t>
            </a:r>
            <a:r>
              <a:rPr lang="en-US" dirty="0"/>
              <a:t> (with smoothing)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1023909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E4C7E9A-C650-102E-2C41-06C959776C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177764"/>
              </p:ext>
            </p:extLst>
          </p:nvPr>
        </p:nvGraphicFramePr>
        <p:xfrm>
          <a:off x="81894" y="1030094"/>
          <a:ext cx="5834812" cy="2827020"/>
        </p:xfrm>
        <a:graphic>
          <a:graphicData uri="http://schemas.openxmlformats.org/drawingml/2006/table">
            <a:tbl>
              <a:tblPr firstRow="1" bandRow="1">
                <a:tableStyleId>{E208AA44-8DF0-4E3E-AAF5-EDE2DD36187A}</a:tableStyleId>
              </a:tblPr>
              <a:tblGrid>
                <a:gridCol w="1458703">
                  <a:extLst>
                    <a:ext uri="{9D8B030D-6E8A-4147-A177-3AD203B41FA5}">
                      <a16:colId xmlns:a16="http://schemas.microsoft.com/office/drawing/2014/main" val="1872249606"/>
                    </a:ext>
                  </a:extLst>
                </a:gridCol>
                <a:gridCol w="1458703">
                  <a:extLst>
                    <a:ext uri="{9D8B030D-6E8A-4147-A177-3AD203B41FA5}">
                      <a16:colId xmlns:a16="http://schemas.microsoft.com/office/drawing/2014/main" val="2388169761"/>
                    </a:ext>
                  </a:extLst>
                </a:gridCol>
                <a:gridCol w="1458703">
                  <a:extLst>
                    <a:ext uri="{9D8B030D-6E8A-4147-A177-3AD203B41FA5}">
                      <a16:colId xmlns:a16="http://schemas.microsoft.com/office/drawing/2014/main" val="2079672954"/>
                    </a:ext>
                  </a:extLst>
                </a:gridCol>
                <a:gridCol w="1458703">
                  <a:extLst>
                    <a:ext uri="{9D8B030D-6E8A-4147-A177-3AD203B41FA5}">
                      <a16:colId xmlns:a16="http://schemas.microsoft.com/office/drawing/2014/main" val="3470052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Balanced 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Macro F1-Score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9398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81.6%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79.9%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335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K-Nearest Neighbors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89.5%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88.1%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0.885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91712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91.4%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90.5%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6341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XGBoost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91.4%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90.5%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0.905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902334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n-NO"/>
                        <a:t>Voting Ensemble (RF+KNN+XGB)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92.3%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91.3%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0.914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564174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956848C-3E19-8AC9-DD3C-87D1F801B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313" y="1030094"/>
            <a:ext cx="3181687" cy="2758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165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990419B6-82E6-9691-A30F-51644839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43" y="789563"/>
            <a:ext cx="7704000" cy="572700"/>
          </a:xfrm>
        </p:spPr>
        <p:txBody>
          <a:bodyPr/>
          <a:lstStyle/>
          <a:p>
            <a:r>
              <a:rPr lang="en-US" sz="2800" b="1" dirty="0">
                <a:latin typeface="Garamond" panose="02020404030301010803" pitchFamily="18" charset="0"/>
              </a:rPr>
              <a:t>1. </a:t>
            </a:r>
            <a:r>
              <a:rPr lang="en-US" sz="2800" b="1" dirty="0"/>
              <a:t>Reliability of Wearable Predictions</a:t>
            </a:r>
            <a:endParaRPr lang="en-IN" sz="2800" b="1" dirty="0">
              <a:latin typeface="Garamond" panose="020204040303010108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898FF-B536-D4F7-FB57-2FD2DAE60D0E}"/>
              </a:ext>
            </a:extLst>
          </p:cNvPr>
          <p:cNvSpPr txBox="1"/>
          <p:nvPr/>
        </p:nvSpPr>
        <p:spPr>
          <a:xfrm>
            <a:off x="323943" y="1362263"/>
            <a:ext cx="4316637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Wearable activity predictions are not always fully reliable.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Sensor noise and body movement variations affect prediction confidence.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The proposed Traffic-Light Reliability System helped identify: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Reliable predictions (GREEN)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Uncertain predictions (YELLOW)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2000" dirty="0"/>
              <a:t>Unreliable predictions (RED)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45327" y="144966"/>
            <a:ext cx="51630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</a:t>
            </a: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889EBFB-8CC4-8079-EAD9-3A8A94B80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356" y="1227667"/>
            <a:ext cx="3680122" cy="391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843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990419B6-82E6-9691-A30F-51644839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63" y="183224"/>
            <a:ext cx="7704000" cy="572700"/>
          </a:xfrm>
        </p:spPr>
        <p:txBody>
          <a:bodyPr/>
          <a:lstStyle/>
          <a:p>
            <a:r>
              <a:rPr lang="en-US" sz="2400" b="1" dirty="0">
                <a:latin typeface="Garamond" panose="02020404030301010803" pitchFamily="18" charset="0"/>
              </a:rPr>
              <a:t>2. </a:t>
            </a:r>
            <a:r>
              <a:rPr lang="en-US" sz="2400" b="1" dirty="0"/>
              <a:t>Human Activities Show Different Prediction Behavior</a:t>
            </a:r>
            <a:endParaRPr lang="en-IN" sz="2400" b="1" dirty="0">
              <a:latin typeface="Garamond" panose="02020404030301010803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77B933C-7185-8AE9-F54C-57B2DCB250B0}"/>
              </a:ext>
            </a:extLst>
          </p:cNvPr>
          <p:cNvSpPr txBox="1"/>
          <p:nvPr/>
        </p:nvSpPr>
        <p:spPr>
          <a:xfrm>
            <a:off x="89621" y="862352"/>
            <a:ext cx="392357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Dynamic activities like: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walking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running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cycling </a:t>
            </a:r>
          </a:p>
          <a:p>
            <a:r>
              <a:rPr lang="en-US" dirty="0"/>
              <a:t>showed very high prediction accuracy.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Static activities like: </a:t>
            </a:r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dirty="0"/>
              <a:t>standing </a:t>
            </a:r>
          </a:p>
          <a:p>
            <a:r>
              <a:rPr lang="en-US" dirty="0"/>
              <a:t>were comparatively harder to classify accurately.</a:t>
            </a:r>
          </a:p>
          <a:p>
            <a:endParaRPr 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Similar low-motion activities produced overlapping sensor patterns.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ACC716-5341-6A65-570A-6F09C3EC4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3063" y="901700"/>
            <a:ext cx="5048104" cy="3340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520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990419B6-82E6-9691-A30F-51644839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063" y="183224"/>
            <a:ext cx="7704000" cy="572700"/>
          </a:xfrm>
        </p:spPr>
        <p:txBody>
          <a:bodyPr/>
          <a:lstStyle/>
          <a:p>
            <a:r>
              <a:rPr lang="en-US" sz="2800" dirty="0">
                <a:latin typeface="Garamond" panose="02020404030301010803" pitchFamily="18" charset="0"/>
              </a:rPr>
              <a:t> </a:t>
            </a:r>
            <a:r>
              <a:rPr lang="en-US" sz="2400" b="1" dirty="0">
                <a:latin typeface="Garamond" panose="02020404030301010803" pitchFamily="18" charset="0"/>
              </a:rPr>
              <a:t>3. </a:t>
            </a:r>
            <a:r>
              <a:rPr lang="en-US" sz="2400" b="1" dirty="0"/>
              <a:t>Ensemble Learning Improved System Performance</a:t>
            </a:r>
            <a:endParaRPr lang="en-IN" sz="2400" b="1" dirty="0">
              <a:latin typeface="Garamond" panose="020204040303010108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898FF-B536-D4F7-FB57-2FD2DAE60D0E}"/>
              </a:ext>
            </a:extLst>
          </p:cNvPr>
          <p:cNvSpPr txBox="1"/>
          <p:nvPr/>
        </p:nvSpPr>
        <p:spPr>
          <a:xfrm>
            <a:off x="323943" y="1132969"/>
            <a:ext cx="3966117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Combining multiple ML models improved prediction stability and robustness.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Voting Ensemble achieved the best overall performance among all tested models.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Temporal smoothing further reduced noisy prediction fluctuations.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dirty="0"/>
              <a:t>The final system achieved highly consistent activity recognition performance.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D2ED16-AEAC-82F2-6A4A-74D7CB73C3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382" y="1377859"/>
            <a:ext cx="4744618" cy="290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30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7"/>
          <p:cNvSpPr txBox="1">
            <a:spLocks noGrp="1"/>
          </p:cNvSpPr>
          <p:nvPr>
            <p:ph type="title"/>
          </p:nvPr>
        </p:nvSpPr>
        <p:spPr>
          <a:xfrm>
            <a:off x="369326" y="1525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b="1" dirty="0">
                <a:latin typeface="Garamond" panose="02020404030301010803" pitchFamily="18" charset="0"/>
                <a:cs typeface="Times New Roman" panose="02020603050405020304" pitchFamily="18" charset="0"/>
              </a:rPr>
              <a:t>4. </a:t>
            </a:r>
            <a:r>
              <a:rPr lang="en-US" sz="2400" b="1" dirty="0"/>
              <a:t>Subject Variability Affects Wearable Predictions</a:t>
            </a:r>
            <a:endParaRPr sz="24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EBFE5F-A494-0E99-7A97-5292CD0749A1}"/>
              </a:ext>
            </a:extLst>
          </p:cNvPr>
          <p:cNvCxnSpPr>
            <a:cxnSpLocks/>
          </p:cNvCxnSpPr>
          <p:nvPr/>
        </p:nvCxnSpPr>
        <p:spPr>
          <a:xfrm>
            <a:off x="323943" y="782351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72" name="Picture 7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FFE201E8-F190-796B-3248-2FA7A0014AE5}"/>
              </a:ext>
            </a:extLst>
          </p:cNvPr>
          <p:cNvSpPr txBox="1"/>
          <p:nvPr/>
        </p:nvSpPr>
        <p:spPr>
          <a:xfrm>
            <a:off x="369326" y="1164656"/>
            <a:ext cx="42026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Different subjects showed different movement patterns and sensor behavior.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Subject-based validation proved that human activity recognition is highly user-dependent.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Adding multiple subjects improved model generalization and robustness.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Optional dataset recordings introduced more realistic activity variations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E3C165-58F2-7E36-D099-00EEA55E69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762" y="839460"/>
            <a:ext cx="4717238" cy="3009899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p67"/>
          <p:cNvSpPr txBox="1">
            <a:spLocks noGrp="1"/>
          </p:cNvSpPr>
          <p:nvPr>
            <p:ph type="title"/>
          </p:nvPr>
        </p:nvSpPr>
        <p:spPr>
          <a:xfrm>
            <a:off x="369326" y="152543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3600" b="1" dirty="0"/>
              <a:t>Recommendations</a:t>
            </a:r>
            <a:endParaRPr lang="en-US" sz="3600" b="1" dirty="0">
              <a:latin typeface="Garamond" panose="02020404030301010803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3EBFE5F-A494-0E99-7A97-5292CD0749A1}"/>
              </a:ext>
            </a:extLst>
          </p:cNvPr>
          <p:cNvCxnSpPr>
            <a:cxnSpLocks/>
          </p:cNvCxnSpPr>
          <p:nvPr/>
        </p:nvCxnSpPr>
        <p:spPr>
          <a:xfrm>
            <a:off x="323943" y="782351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E400965-F694-B2B4-230D-02951CB7183F}"/>
              </a:ext>
            </a:extLst>
          </p:cNvPr>
          <p:cNvCxnSpPr>
            <a:cxnSpLocks/>
          </p:cNvCxnSpPr>
          <p:nvPr/>
        </p:nvCxnSpPr>
        <p:spPr>
          <a:xfrm>
            <a:off x="8286212" y="4990957"/>
            <a:ext cx="67490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D78E8F-D6EF-8F75-A20D-FD90A15D3D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697" y="804435"/>
            <a:ext cx="6895017" cy="4237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728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691352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990419B6-82E6-9691-A30F-51644839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685" y="101528"/>
            <a:ext cx="7704000" cy="572700"/>
          </a:xfrm>
        </p:spPr>
        <p:txBody>
          <a:bodyPr/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D1D19-06E7-B0D2-88B2-67976D559CA2}"/>
              </a:ext>
            </a:extLst>
          </p:cNvPr>
          <p:cNvSpPr txBox="1"/>
          <p:nvPr/>
        </p:nvSpPr>
        <p:spPr>
          <a:xfrm>
            <a:off x="236685" y="725601"/>
            <a:ext cx="832745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The project successfully developed a reliability-aware Human Activity Recognition (HAR) system using wearable sensor data from the PAMAP2 dataset.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Machine learning models were used to classify human activities such as walking, running, sitting, cycling, and standing using multi-sensor IMU signals.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Feature engineering, ensemble learning, and temporal smoothing significantly improved prediction accuracy and robustness.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The proposed Traffic-Light Reliability System helped identify reliable and unreliable wearable predictions based on confidence levels.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Subject-based validation and robustness analysis showed that wearable activity recognition performance varies across users and activity types. 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dirty="0"/>
              <a:t>The final Voting Ensemble model achieved strong and consistent performance, making the system suitable for reliable wearable health and activity monitoring 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6645" y="50155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0294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E1E1FB9-ACBD-C1BB-8EAB-8823277F4252}"/>
              </a:ext>
            </a:extLst>
          </p:cNvPr>
          <p:cNvCxnSpPr>
            <a:cxnSpLocks/>
          </p:cNvCxnSpPr>
          <p:nvPr/>
        </p:nvCxnSpPr>
        <p:spPr>
          <a:xfrm>
            <a:off x="323943" y="864828"/>
            <a:ext cx="8385717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" name="Title 2">
            <a:extLst>
              <a:ext uri="{FF2B5EF4-FFF2-40B4-BE49-F238E27FC236}">
                <a16:creationId xmlns:a16="http://schemas.microsoft.com/office/drawing/2014/main" id="{990419B6-82E6-9691-A30F-516448391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943" y="169962"/>
            <a:ext cx="7704000" cy="572700"/>
          </a:xfrm>
        </p:spPr>
        <p:txBody>
          <a:bodyPr/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1D1D19-06E7-B0D2-88B2-67976D559CA2}"/>
              </a:ext>
            </a:extLst>
          </p:cNvPr>
          <p:cNvSpPr txBox="1"/>
          <p:nvPr/>
        </p:nvSpPr>
        <p:spPr>
          <a:xfrm>
            <a:off x="323943" y="869493"/>
            <a:ext cx="822329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dirty="0"/>
              <a:t>Reiss, A. and Stricker, D., </a:t>
            </a:r>
            <a:r>
              <a:rPr lang="en-US" sz="1600" i="1" dirty="0"/>
              <a:t>Introducing a New Benchmarked Dataset for Activity Monitoring</a:t>
            </a:r>
            <a:r>
              <a:rPr lang="en-US" sz="1600" dirty="0"/>
              <a:t>, IEEE ISWC, 2012. </a:t>
            </a:r>
            <a:r>
              <a:rPr lang="en-US" sz="1600" dirty="0">
                <a:hlinkClick r:id="rId3"/>
              </a:rPr>
              <a:t>https://ieeexplore.ieee.org/document/6246152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PAMAP2 Physical Activity Monitoring Dataset – UCI Machine Learning Repository.</a:t>
            </a:r>
            <a:br>
              <a:rPr lang="en-US" sz="1600" dirty="0"/>
            </a:br>
            <a:r>
              <a:rPr lang="en-US" sz="1600" dirty="0">
                <a:hlinkClick r:id="rId4"/>
              </a:rPr>
              <a:t>PAMAP2 Dataset 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Chen, T. and </a:t>
            </a:r>
            <a:r>
              <a:rPr lang="en-US" sz="1600" dirty="0" err="1"/>
              <a:t>Guestrin</a:t>
            </a:r>
            <a:r>
              <a:rPr lang="en-US" sz="1600" dirty="0"/>
              <a:t>, C., </a:t>
            </a:r>
            <a:r>
              <a:rPr lang="en-US" sz="1600" i="1" dirty="0" err="1"/>
              <a:t>XGBoost</a:t>
            </a:r>
            <a:r>
              <a:rPr lang="en-US" sz="1600" i="1" dirty="0"/>
              <a:t>: A Scalable Tree Boosting System</a:t>
            </a:r>
            <a:r>
              <a:rPr lang="en-US" sz="1600" dirty="0"/>
              <a:t>, ACM SIGKDD, 2016.</a:t>
            </a:r>
            <a:r>
              <a:rPr lang="en-US" sz="1600" dirty="0">
                <a:hlinkClick r:id="rId5"/>
              </a:rPr>
              <a:t>XGBoost Research Paper 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 err="1"/>
              <a:t>Géron</a:t>
            </a:r>
            <a:r>
              <a:rPr lang="en-US" sz="1600" dirty="0"/>
              <a:t>, A., </a:t>
            </a:r>
            <a:r>
              <a:rPr lang="en-US" sz="1600" i="1" dirty="0"/>
              <a:t>Hands-On Machine Learning with Scikit-Learn, </a:t>
            </a:r>
            <a:r>
              <a:rPr lang="en-US" sz="1600" i="1" dirty="0" err="1"/>
              <a:t>Keras</a:t>
            </a:r>
            <a:r>
              <a:rPr lang="en-US" sz="1600" i="1" dirty="0"/>
              <a:t> &amp; TensorFlow</a:t>
            </a:r>
            <a:r>
              <a:rPr lang="en-US" sz="1600" dirty="0"/>
              <a:t>, O’Reilly Media, 2022.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Bulling, A., Blanke, U., and Schiele, B., </a:t>
            </a:r>
            <a:r>
              <a:rPr lang="en-US" sz="1600" i="1" dirty="0"/>
              <a:t>A Tutorial on Human Activity Recognition Using Body-Worn Inertial Sensors</a:t>
            </a:r>
            <a:r>
              <a:rPr lang="en-US" sz="1600" dirty="0"/>
              <a:t>, ACM Computing Surveys, 2014.</a:t>
            </a:r>
            <a:r>
              <a:rPr lang="en-US" sz="1600" dirty="0">
                <a:hlinkClick r:id="rId6"/>
              </a:rPr>
              <a:t>HAR Survey Paper 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Anguita, D. et al., </a:t>
            </a:r>
            <a:r>
              <a:rPr lang="en-US" sz="1600" i="1" dirty="0"/>
              <a:t>Human Activity Recognition on Smartphones Using a Multiclass Hardware-Friendly Support Vector Machine</a:t>
            </a:r>
            <a:r>
              <a:rPr lang="en-US" sz="1600" dirty="0"/>
              <a:t>, ESANN, 2012.</a:t>
            </a:r>
            <a:r>
              <a:rPr lang="en-US" sz="1600" dirty="0">
                <a:hlinkClick r:id="rId7"/>
              </a:rPr>
              <a:t>Smartphone HAR Research Paper </a:t>
            </a:r>
            <a:endParaRPr lang="en-US" sz="1600" dirty="0"/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Wang, J. et al., </a:t>
            </a:r>
            <a:r>
              <a:rPr lang="en-US" sz="1600" i="1" dirty="0"/>
              <a:t>Deep Learning for Sensor-based Activity Recognition: A Survey</a:t>
            </a:r>
            <a:r>
              <a:rPr lang="en-US" sz="1600" dirty="0"/>
              <a:t>, Pattern Recognition Letters, 2019. </a:t>
            </a:r>
            <a:r>
              <a:rPr lang="en-US" sz="1600" dirty="0">
                <a:hlinkClick r:id="rId8"/>
              </a:rPr>
              <a:t>Sensor-based HAR Survey Paper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177" y="174627"/>
            <a:ext cx="1828080" cy="57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1460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00" y="1215750"/>
            <a:ext cx="7704000" cy="1817381"/>
          </a:xfrm>
        </p:spPr>
        <p:txBody>
          <a:bodyPr/>
          <a:lstStyle/>
          <a:p>
            <a:pPr marL="13970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</a:p>
          <a:p>
            <a:pPr marL="13970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ctr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 algn="ctr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 ?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36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2318</TotalTime>
  <Words>2720</Words>
  <Application>Microsoft Office PowerPoint</Application>
  <PresentationFormat>On-screen Show (16:9)</PresentationFormat>
  <Paragraphs>345</Paragraphs>
  <Slides>38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9" baseType="lpstr">
      <vt:lpstr>Arial</vt:lpstr>
      <vt:lpstr>Garamond</vt:lpstr>
      <vt:lpstr>Wingdings</vt:lpstr>
      <vt:lpstr>Calibri</vt:lpstr>
      <vt:lpstr>Courier New</vt:lpstr>
      <vt:lpstr>Nunito Light</vt:lpstr>
      <vt:lpstr>Calibri Light</vt:lpstr>
      <vt:lpstr>Aharoni</vt:lpstr>
      <vt:lpstr>Times New Roman</vt:lpstr>
      <vt:lpstr>Nunito</vt:lpstr>
      <vt:lpstr>Office Theme</vt:lpstr>
      <vt:lpstr>PowerPoint Presentation</vt:lpstr>
      <vt:lpstr>Contents </vt:lpstr>
      <vt:lpstr>Introduction</vt:lpstr>
      <vt:lpstr> Motivation</vt:lpstr>
      <vt:lpstr>PowerPoint Presentation</vt:lpstr>
      <vt:lpstr>PowerPoint Presentation</vt:lpstr>
      <vt:lpstr>PowerPoint Presentation</vt:lpstr>
      <vt:lpstr>PowerPoint Presentation</vt:lpstr>
      <vt:lpstr>Domain understanding </vt:lpstr>
      <vt:lpstr>Dataset description</vt:lpstr>
      <vt:lpstr>Dataset description</vt:lpstr>
      <vt:lpstr>Dataset description</vt:lpstr>
      <vt:lpstr>    </vt:lpstr>
      <vt:lpstr>Data Pre-processing </vt:lpstr>
      <vt:lpstr>Data Pre-processing </vt:lpstr>
      <vt:lpstr>Data Analysis and Visualizations: Question and inferences </vt:lpstr>
      <vt:lpstr> 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Feature Selection/Engineering</vt:lpstr>
      <vt:lpstr>Feature Selection/Engineering</vt:lpstr>
      <vt:lpstr>Model building </vt:lpstr>
      <vt:lpstr>Performance evaluation </vt:lpstr>
      <vt:lpstr>1. Reliability of Wearable Predictions</vt:lpstr>
      <vt:lpstr>2. Human Activities Show Different Prediction Behavior</vt:lpstr>
      <vt:lpstr> 3. Ensemble Learning Improved System Performance</vt:lpstr>
      <vt:lpstr>4. Subject Variability Affects Wearable Predictions</vt:lpstr>
      <vt:lpstr>Recommendations</vt:lpstr>
      <vt:lpstr>Conclusions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Basavva Sangenaver</dc:creator>
  <cp:lastModifiedBy>Kalash Rao</cp:lastModifiedBy>
  <cp:revision>21</cp:revision>
  <dcterms:modified xsi:type="dcterms:W3CDTF">2026-07-08T02:42:42Z</dcterms:modified>
</cp:coreProperties>
</file>